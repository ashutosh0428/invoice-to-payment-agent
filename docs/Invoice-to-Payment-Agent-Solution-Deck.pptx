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88920"/>
            <a:ext cx="1371600" cy="64008"/>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058400" cy="914400"/>
          </a:xfrm>
          <a:prstGeom prst="rect">
            <a:avLst/>
          </a:prstGeom>
          <a:noFill/>
        </p:spPr>
        <p:txBody>
          <a:bodyPr wrap="square">
            <a:spAutoFit/>
          </a:bodyPr>
          <a:lstStyle/>
          <a:p>
            <a:pPr algn="l"/>
            <a:r>
              <a:rPr sz="4400" b="1">
                <a:solidFill>
                  <a:srgbClr val="FFFFFF"/>
                </a:solidFill>
                <a:latin typeface="Calibri"/>
              </a:rPr>
              <a:t>Agentic Invoice-to-Payment Automation</a:t>
            </a:r>
          </a:p>
        </p:txBody>
      </p:sp>
      <p:sp>
        <p:nvSpPr>
          <p:cNvPr id="6" name="TextBox 5"/>
          <p:cNvSpPr txBox="1"/>
          <p:nvPr/>
        </p:nvSpPr>
        <p:spPr>
          <a:xfrm>
            <a:off x="914400" y="3063240"/>
            <a:ext cx="10058400" cy="731520"/>
          </a:xfrm>
          <a:prstGeom prst="rect">
            <a:avLst/>
          </a:prstGeom>
          <a:noFill/>
        </p:spPr>
        <p:txBody>
          <a:bodyPr wrap="square">
            <a:spAutoFit/>
          </a:bodyPr>
          <a:lstStyle/>
          <a:p>
            <a:pPr algn="l"/>
            <a:r>
              <a:rPr sz="1900" b="0">
                <a:solidFill>
                  <a:srgbClr val="C5D3E0"/>
                </a:solidFill>
                <a:latin typeface="Calibri"/>
              </a:rPr>
              <a:t>Email to posted payment journal, with a deterministic match and a human in the loop</a:t>
            </a:r>
          </a:p>
        </p:txBody>
      </p:sp>
      <p:sp>
        <p:nvSpPr>
          <p:cNvPr id="7" name="TextBox 6"/>
          <p:cNvSpPr txBox="1"/>
          <p:nvPr/>
        </p:nvSpPr>
        <p:spPr>
          <a:xfrm>
            <a:off x="914400" y="4937760"/>
            <a:ext cx="10058400" cy="365760"/>
          </a:xfrm>
          <a:prstGeom prst="rect">
            <a:avLst/>
          </a:prstGeom>
          <a:noFill/>
        </p:spPr>
        <p:txBody>
          <a:bodyPr wrap="square">
            <a:spAutoFit/>
          </a:bodyPr>
          <a:lstStyle/>
          <a:p>
            <a:pPr algn="l"/>
            <a:r>
              <a:rPr sz="1600" b="1">
                <a:solidFill>
                  <a:srgbClr val="FFFFFF"/>
                </a:solidFill>
                <a:latin typeface="Calibri"/>
              </a:rPr>
              <a:t>Ashutosh Sharma</a:t>
            </a:r>
          </a:p>
        </p:txBody>
      </p:sp>
      <p:sp>
        <p:nvSpPr>
          <p:cNvPr id="8" name="TextBox 7"/>
          <p:cNvSpPr txBox="1"/>
          <p:nvPr/>
        </p:nvSpPr>
        <p:spPr>
          <a:xfrm>
            <a:off x="914400" y="5285232"/>
            <a:ext cx="10058400" cy="365760"/>
          </a:xfrm>
          <a:prstGeom prst="rect">
            <a:avLst/>
          </a:prstGeom>
          <a:noFill/>
        </p:spPr>
        <p:txBody>
          <a:bodyPr wrap="square">
            <a:spAutoFit/>
          </a:bodyPr>
          <a:lstStyle/>
          <a:p>
            <a:pPr algn="l"/>
            <a:r>
              <a:rPr sz="1300" b="0">
                <a:solidFill>
                  <a:srgbClr val="9AAFC2"/>
                </a:solidFill>
                <a:latin typeface="Calibri"/>
              </a:rPr>
              <a:t>AI Engineer  |  Technical Assignment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The problem</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What accounts payable looks like without automation</a:t>
            </a:r>
          </a:p>
        </p:txBody>
      </p:sp>
      <p:sp>
        <p:nvSpPr>
          <p:cNvPr id="6" name="Oval 5"/>
          <p:cNvSpPr/>
          <p:nvPr/>
        </p:nvSpPr>
        <p:spPr>
          <a:xfrm>
            <a:off x="640080" y="1773936"/>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664208"/>
            <a:ext cx="5340096" cy="420624"/>
          </a:xfrm>
          <a:prstGeom prst="rect">
            <a:avLst/>
          </a:prstGeom>
          <a:noFill/>
        </p:spPr>
        <p:txBody>
          <a:bodyPr wrap="square">
            <a:spAutoFit/>
          </a:bodyPr>
          <a:lstStyle/>
          <a:p>
            <a:pPr algn="l"/>
            <a:r>
              <a:rPr sz="1500" b="0">
                <a:solidFill>
                  <a:srgbClr val="334455"/>
                </a:solidFill>
                <a:latin typeface="Calibri"/>
              </a:rPr>
              <a:t>Invoices arrive as email attachments: native PDFs, scans and HTML, in no fixed layout.</a:t>
            </a:r>
          </a:p>
        </p:txBody>
      </p:sp>
      <p:sp>
        <p:nvSpPr>
          <p:cNvPr id="8" name="Oval 7"/>
          <p:cNvSpPr/>
          <p:nvPr/>
        </p:nvSpPr>
        <p:spPr>
          <a:xfrm>
            <a:off x="640080" y="2194560"/>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084832"/>
            <a:ext cx="5340096" cy="420624"/>
          </a:xfrm>
          <a:prstGeom prst="rect">
            <a:avLst/>
          </a:prstGeom>
          <a:noFill/>
        </p:spPr>
        <p:txBody>
          <a:bodyPr wrap="square">
            <a:spAutoFit/>
          </a:bodyPr>
          <a:lstStyle/>
          <a:p>
            <a:pPr algn="l"/>
            <a:r>
              <a:rPr sz="1500" b="0">
                <a:solidFill>
                  <a:srgbClr val="334455"/>
                </a:solidFill>
                <a:latin typeface="Calibri"/>
              </a:rPr>
              <a:t>A clerk keys header and line data into the ERP by hand.</a:t>
            </a:r>
          </a:p>
        </p:txBody>
      </p:sp>
      <p:sp>
        <p:nvSpPr>
          <p:cNvPr id="10" name="Oval 9"/>
          <p:cNvSpPr/>
          <p:nvPr/>
        </p:nvSpPr>
        <p:spPr>
          <a:xfrm>
            <a:off x="640080" y="2615184"/>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505456"/>
            <a:ext cx="5340096" cy="420624"/>
          </a:xfrm>
          <a:prstGeom prst="rect">
            <a:avLst/>
          </a:prstGeom>
          <a:noFill/>
        </p:spPr>
        <p:txBody>
          <a:bodyPr wrap="square">
            <a:spAutoFit/>
          </a:bodyPr>
          <a:lstStyle/>
          <a:p>
            <a:pPr algn="l"/>
            <a:r>
              <a:rPr sz="1500" b="0">
                <a:solidFill>
                  <a:srgbClr val="334455"/>
                </a:solidFill>
                <a:latin typeface="Calibri"/>
              </a:rPr>
              <a:t>Each invoice is compared line by line against the purchase order and goods receipt.</a:t>
            </a:r>
          </a:p>
        </p:txBody>
      </p:sp>
      <p:sp>
        <p:nvSpPr>
          <p:cNvPr id="12" name="Oval 11"/>
          <p:cNvSpPr/>
          <p:nvPr/>
        </p:nvSpPr>
        <p:spPr>
          <a:xfrm>
            <a:off x="640080" y="3035808"/>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926080"/>
            <a:ext cx="5340096" cy="420624"/>
          </a:xfrm>
          <a:prstGeom prst="rect">
            <a:avLst/>
          </a:prstGeom>
          <a:noFill/>
        </p:spPr>
        <p:txBody>
          <a:bodyPr wrap="square">
            <a:spAutoFit/>
          </a:bodyPr>
          <a:lstStyle/>
          <a:p>
            <a:pPr algn="l"/>
            <a:r>
              <a:rPr sz="1500" b="0">
                <a:solidFill>
                  <a:srgbClr val="334455"/>
                </a:solidFill>
                <a:latin typeface="Calibri"/>
              </a:rPr>
              <a:t>Variances are chased over email, and the reasoning is never written down.</a:t>
            </a:r>
          </a:p>
        </p:txBody>
      </p:sp>
      <p:sp>
        <p:nvSpPr>
          <p:cNvPr id="14" name="Oval 13"/>
          <p:cNvSpPr/>
          <p:nvPr/>
        </p:nvSpPr>
        <p:spPr>
          <a:xfrm>
            <a:off x="640080" y="3456432"/>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3346704"/>
            <a:ext cx="5340096" cy="420624"/>
          </a:xfrm>
          <a:prstGeom prst="rect">
            <a:avLst/>
          </a:prstGeom>
          <a:noFill/>
        </p:spPr>
        <p:txBody>
          <a:bodyPr wrap="square">
            <a:spAutoFit/>
          </a:bodyPr>
          <a:lstStyle/>
          <a:p>
            <a:pPr algn="l"/>
            <a:r>
              <a:rPr sz="1500" b="0">
                <a:solidFill>
                  <a:srgbClr val="334455"/>
                </a:solidFill>
                <a:latin typeface="Calibri"/>
              </a:rPr>
              <a:t>Duplicate invoices get paid twice because the check is a human memory.</a:t>
            </a:r>
          </a:p>
        </p:txBody>
      </p:sp>
      <p:sp>
        <p:nvSpPr>
          <p:cNvPr id="16" name="Rounded Rectangle 15"/>
          <p:cNvSpPr/>
          <p:nvPr/>
        </p:nvSpPr>
        <p:spPr>
          <a:xfrm>
            <a:off x="6675120" y="1691640"/>
            <a:ext cx="4846320" cy="105156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0B2545"/>
                </a:solidFill>
                <a:latin typeface="Calibri"/>
              </a:rPr>
              <a:t>Per invoice, manual handling costs roughly 10-15x an automated touchless one</a:t>
            </a:r>
          </a:p>
        </p:txBody>
      </p:sp>
      <p:sp>
        <p:nvSpPr>
          <p:cNvPr id="17" name="Rounded Rectangle 16"/>
          <p:cNvSpPr/>
          <p:nvPr/>
        </p:nvSpPr>
        <p:spPr>
          <a:xfrm>
            <a:off x="6675120" y="2880360"/>
            <a:ext cx="4846320" cy="105156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0B2545"/>
                </a:solidFill>
                <a:latin typeface="Calibri"/>
              </a:rPr>
              <a:t>Duplicate and overpayment leakage typically runs 0.5-1% of AP spend</a:t>
            </a:r>
          </a:p>
        </p:txBody>
      </p:sp>
      <p:sp>
        <p:nvSpPr>
          <p:cNvPr id="18" name="Rounded Rectangle 17"/>
          <p:cNvSpPr/>
          <p:nvPr/>
        </p:nvSpPr>
        <p:spPr>
          <a:xfrm>
            <a:off x="6675120" y="4069080"/>
            <a:ext cx="4846320" cy="105156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0B2545"/>
                </a:solidFill>
                <a:latin typeface="Calibri"/>
              </a:rPr>
              <a:t>Auditors need the reason a payment was approved, not just the payment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What the agent does</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Eight steps, from unread email to posted journal</a:t>
            </a:r>
          </a:p>
        </p:txBody>
      </p:sp>
      <p:sp>
        <p:nvSpPr>
          <p:cNvPr id="6" name="Rounded Rectangle 5"/>
          <p:cNvSpPr/>
          <p:nvPr/>
        </p:nvSpPr>
        <p:spPr>
          <a:xfrm>
            <a:off x="502920" y="1783080"/>
            <a:ext cx="2606040" cy="16916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7" name="TextBox 6"/>
          <p:cNvSpPr txBox="1"/>
          <p:nvPr/>
        </p:nvSpPr>
        <p:spPr>
          <a:xfrm>
            <a:off x="649224" y="1892807"/>
            <a:ext cx="457200" cy="320040"/>
          </a:xfrm>
          <a:prstGeom prst="rect">
            <a:avLst/>
          </a:prstGeom>
          <a:noFill/>
        </p:spPr>
        <p:txBody>
          <a:bodyPr wrap="square">
            <a:spAutoFit/>
          </a:bodyPr>
          <a:lstStyle/>
          <a:p>
            <a:pPr algn="l"/>
            <a:r>
              <a:rPr sz="2000" b="1">
                <a:solidFill>
                  <a:srgbClr val="00A19A"/>
                </a:solidFill>
                <a:latin typeface="Calibri"/>
              </a:rPr>
              <a:t>1</a:t>
            </a:r>
          </a:p>
        </p:txBody>
      </p:sp>
      <p:sp>
        <p:nvSpPr>
          <p:cNvPr id="8" name="TextBox 7"/>
          <p:cNvSpPr txBox="1"/>
          <p:nvPr/>
        </p:nvSpPr>
        <p:spPr>
          <a:xfrm>
            <a:off x="649224" y="2286000"/>
            <a:ext cx="2286000" cy="365760"/>
          </a:xfrm>
          <a:prstGeom prst="rect">
            <a:avLst/>
          </a:prstGeom>
          <a:noFill/>
        </p:spPr>
        <p:txBody>
          <a:bodyPr wrap="square">
            <a:spAutoFit/>
          </a:bodyPr>
          <a:lstStyle/>
          <a:p>
            <a:pPr algn="l"/>
            <a:r>
              <a:rPr sz="1500" b="1">
                <a:solidFill>
                  <a:srgbClr val="0B2545"/>
                </a:solidFill>
                <a:latin typeface="Calibri"/>
              </a:rPr>
              <a:t>Ingest</a:t>
            </a:r>
          </a:p>
        </p:txBody>
      </p:sp>
      <p:sp>
        <p:nvSpPr>
          <p:cNvPr id="9" name="TextBox 8"/>
          <p:cNvSpPr txBox="1"/>
          <p:nvPr/>
        </p:nvSpPr>
        <p:spPr>
          <a:xfrm>
            <a:off x="649224" y="2679191"/>
            <a:ext cx="2286000" cy="731520"/>
          </a:xfrm>
          <a:prstGeom prst="rect">
            <a:avLst/>
          </a:prstGeom>
          <a:noFill/>
        </p:spPr>
        <p:txBody>
          <a:bodyPr wrap="square">
            <a:spAutoFit/>
          </a:bodyPr>
          <a:lstStyle/>
          <a:p>
            <a:pPr algn="l"/>
            <a:r>
              <a:rPr sz="1100" b="0">
                <a:solidFill>
                  <a:srgbClr val="6B7A8B"/>
                </a:solidFill>
                <a:latin typeface="Calibri"/>
              </a:rPr>
              <a:t>Graph / Gmail /</a:t>
            </a:r>
          </a:p>
          <a:p>
            <a:pPr algn="l"/>
            <a:r>
              <a:rPr sz="1100" b="0">
                <a:solidFill>
                  <a:srgbClr val="6B7A8B"/>
                </a:solidFill>
                <a:latin typeface="Calibri"/>
              </a:rPr>
              <a:t>local folder</a:t>
            </a:r>
          </a:p>
        </p:txBody>
      </p:sp>
      <p:cxnSp>
        <p:nvCxnSpPr>
          <p:cNvPr id="10" name="Connector 9"/>
          <p:cNvCxnSpPr/>
          <p:nvPr/>
        </p:nvCxnSpPr>
        <p:spPr>
          <a:xfrm>
            <a:off x="3136391" y="2624328"/>
            <a:ext cx="201169"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55848" y="1783080"/>
            <a:ext cx="2606040" cy="16916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2" name="TextBox 11"/>
          <p:cNvSpPr txBox="1"/>
          <p:nvPr/>
        </p:nvSpPr>
        <p:spPr>
          <a:xfrm>
            <a:off x="3502152" y="1892807"/>
            <a:ext cx="457200" cy="320040"/>
          </a:xfrm>
          <a:prstGeom prst="rect">
            <a:avLst/>
          </a:prstGeom>
          <a:noFill/>
        </p:spPr>
        <p:txBody>
          <a:bodyPr wrap="square">
            <a:spAutoFit/>
          </a:bodyPr>
          <a:lstStyle/>
          <a:p>
            <a:pPr algn="l"/>
            <a:r>
              <a:rPr sz="2000" b="1">
                <a:solidFill>
                  <a:srgbClr val="00A19A"/>
                </a:solidFill>
                <a:latin typeface="Calibri"/>
              </a:rPr>
              <a:t>2</a:t>
            </a:r>
          </a:p>
        </p:txBody>
      </p:sp>
      <p:sp>
        <p:nvSpPr>
          <p:cNvPr id="13" name="TextBox 12"/>
          <p:cNvSpPr txBox="1"/>
          <p:nvPr/>
        </p:nvSpPr>
        <p:spPr>
          <a:xfrm>
            <a:off x="3502152" y="2286000"/>
            <a:ext cx="2286000" cy="365760"/>
          </a:xfrm>
          <a:prstGeom prst="rect">
            <a:avLst/>
          </a:prstGeom>
          <a:noFill/>
        </p:spPr>
        <p:txBody>
          <a:bodyPr wrap="square">
            <a:spAutoFit/>
          </a:bodyPr>
          <a:lstStyle/>
          <a:p>
            <a:pPr algn="l"/>
            <a:r>
              <a:rPr sz="1500" b="1">
                <a:solidFill>
                  <a:srgbClr val="0B2545"/>
                </a:solidFill>
                <a:latin typeface="Calibri"/>
              </a:rPr>
              <a:t>Parse</a:t>
            </a:r>
          </a:p>
        </p:txBody>
      </p:sp>
      <p:sp>
        <p:nvSpPr>
          <p:cNvPr id="14" name="TextBox 13"/>
          <p:cNvSpPr txBox="1"/>
          <p:nvPr/>
        </p:nvSpPr>
        <p:spPr>
          <a:xfrm>
            <a:off x="3502152" y="2679191"/>
            <a:ext cx="2286000" cy="731520"/>
          </a:xfrm>
          <a:prstGeom prst="rect">
            <a:avLst/>
          </a:prstGeom>
          <a:noFill/>
        </p:spPr>
        <p:txBody>
          <a:bodyPr wrap="square">
            <a:spAutoFit/>
          </a:bodyPr>
          <a:lstStyle/>
          <a:p>
            <a:pPr algn="l"/>
            <a:r>
              <a:rPr sz="1100" b="0">
                <a:solidFill>
                  <a:srgbClr val="6B7A8B"/>
                </a:solidFill>
                <a:latin typeface="Calibri"/>
              </a:rPr>
              <a:t>Docling, OCR +</a:t>
            </a:r>
          </a:p>
          <a:p>
            <a:pPr algn="l"/>
            <a:r>
              <a:rPr sz="1100" b="0">
                <a:solidFill>
                  <a:srgbClr val="6B7A8B"/>
                </a:solidFill>
                <a:latin typeface="Calibri"/>
              </a:rPr>
              <a:t>table structure</a:t>
            </a:r>
          </a:p>
        </p:txBody>
      </p:sp>
      <p:cxnSp>
        <p:nvCxnSpPr>
          <p:cNvPr id="15" name="Connector 14"/>
          <p:cNvCxnSpPr/>
          <p:nvPr/>
        </p:nvCxnSpPr>
        <p:spPr>
          <a:xfrm>
            <a:off x="5989320" y="2624328"/>
            <a:ext cx="201168"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08776" y="1783080"/>
            <a:ext cx="2606040" cy="16916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 name="TextBox 16"/>
          <p:cNvSpPr txBox="1"/>
          <p:nvPr/>
        </p:nvSpPr>
        <p:spPr>
          <a:xfrm>
            <a:off x="6355080" y="1892807"/>
            <a:ext cx="457200" cy="320040"/>
          </a:xfrm>
          <a:prstGeom prst="rect">
            <a:avLst/>
          </a:prstGeom>
          <a:noFill/>
        </p:spPr>
        <p:txBody>
          <a:bodyPr wrap="square">
            <a:spAutoFit/>
          </a:bodyPr>
          <a:lstStyle/>
          <a:p>
            <a:pPr algn="l"/>
            <a:r>
              <a:rPr sz="2000" b="1">
                <a:solidFill>
                  <a:srgbClr val="00A19A"/>
                </a:solidFill>
                <a:latin typeface="Calibri"/>
              </a:rPr>
              <a:t>3</a:t>
            </a:r>
          </a:p>
        </p:txBody>
      </p:sp>
      <p:sp>
        <p:nvSpPr>
          <p:cNvPr id="18" name="TextBox 17"/>
          <p:cNvSpPr txBox="1"/>
          <p:nvPr/>
        </p:nvSpPr>
        <p:spPr>
          <a:xfrm>
            <a:off x="6355080" y="2286000"/>
            <a:ext cx="2286000" cy="365760"/>
          </a:xfrm>
          <a:prstGeom prst="rect">
            <a:avLst/>
          </a:prstGeom>
          <a:noFill/>
        </p:spPr>
        <p:txBody>
          <a:bodyPr wrap="square">
            <a:spAutoFit/>
          </a:bodyPr>
          <a:lstStyle/>
          <a:p>
            <a:pPr algn="l"/>
            <a:r>
              <a:rPr sz="1500" b="1">
                <a:solidFill>
                  <a:srgbClr val="0B2545"/>
                </a:solidFill>
                <a:latin typeface="Calibri"/>
              </a:rPr>
              <a:t>Extract</a:t>
            </a:r>
          </a:p>
        </p:txBody>
      </p:sp>
      <p:sp>
        <p:nvSpPr>
          <p:cNvPr id="19" name="TextBox 18"/>
          <p:cNvSpPr txBox="1"/>
          <p:nvPr/>
        </p:nvSpPr>
        <p:spPr>
          <a:xfrm>
            <a:off x="6355080" y="2679191"/>
            <a:ext cx="2286000" cy="731520"/>
          </a:xfrm>
          <a:prstGeom prst="rect">
            <a:avLst/>
          </a:prstGeom>
          <a:noFill/>
        </p:spPr>
        <p:txBody>
          <a:bodyPr wrap="square">
            <a:spAutoFit/>
          </a:bodyPr>
          <a:lstStyle/>
          <a:p>
            <a:pPr algn="l"/>
            <a:r>
              <a:rPr sz="1100" b="0">
                <a:solidFill>
                  <a:srgbClr val="6B7A8B"/>
                </a:solidFill>
                <a:latin typeface="Calibri"/>
              </a:rPr>
              <a:t>Ollama into a</a:t>
            </a:r>
          </a:p>
          <a:p>
            <a:pPr algn="l"/>
            <a:r>
              <a:rPr sz="1100" b="0">
                <a:solidFill>
                  <a:srgbClr val="6B7A8B"/>
                </a:solidFill>
                <a:latin typeface="Calibri"/>
              </a:rPr>
              <a:t>Pydantic schema</a:t>
            </a:r>
          </a:p>
        </p:txBody>
      </p:sp>
      <p:cxnSp>
        <p:nvCxnSpPr>
          <p:cNvPr id="20" name="Connector 19"/>
          <p:cNvCxnSpPr/>
          <p:nvPr/>
        </p:nvCxnSpPr>
        <p:spPr>
          <a:xfrm>
            <a:off x="8842248" y="2624328"/>
            <a:ext cx="201168"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61704" y="1783080"/>
            <a:ext cx="2606040" cy="16916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2" name="TextBox 21"/>
          <p:cNvSpPr txBox="1"/>
          <p:nvPr/>
        </p:nvSpPr>
        <p:spPr>
          <a:xfrm>
            <a:off x="9208008" y="1892807"/>
            <a:ext cx="457200" cy="320040"/>
          </a:xfrm>
          <a:prstGeom prst="rect">
            <a:avLst/>
          </a:prstGeom>
          <a:noFill/>
        </p:spPr>
        <p:txBody>
          <a:bodyPr wrap="square">
            <a:spAutoFit/>
          </a:bodyPr>
          <a:lstStyle/>
          <a:p>
            <a:pPr algn="l"/>
            <a:r>
              <a:rPr sz="2000" b="1">
                <a:solidFill>
                  <a:srgbClr val="00A19A"/>
                </a:solidFill>
                <a:latin typeface="Calibri"/>
              </a:rPr>
              <a:t>4</a:t>
            </a:r>
          </a:p>
        </p:txBody>
      </p:sp>
      <p:sp>
        <p:nvSpPr>
          <p:cNvPr id="23" name="TextBox 22"/>
          <p:cNvSpPr txBox="1"/>
          <p:nvPr/>
        </p:nvSpPr>
        <p:spPr>
          <a:xfrm>
            <a:off x="9208008" y="2286000"/>
            <a:ext cx="2286000" cy="365760"/>
          </a:xfrm>
          <a:prstGeom prst="rect">
            <a:avLst/>
          </a:prstGeom>
          <a:noFill/>
        </p:spPr>
        <p:txBody>
          <a:bodyPr wrap="square">
            <a:spAutoFit/>
          </a:bodyPr>
          <a:lstStyle/>
          <a:p>
            <a:pPr algn="l"/>
            <a:r>
              <a:rPr sz="1500" b="1">
                <a:solidFill>
                  <a:srgbClr val="0B2545"/>
                </a:solidFill>
                <a:latin typeface="Calibri"/>
              </a:rPr>
              <a:t>De-duplicate</a:t>
            </a:r>
          </a:p>
        </p:txBody>
      </p:sp>
      <p:sp>
        <p:nvSpPr>
          <p:cNvPr id="24" name="TextBox 23"/>
          <p:cNvSpPr txBox="1"/>
          <p:nvPr/>
        </p:nvSpPr>
        <p:spPr>
          <a:xfrm>
            <a:off x="9208008" y="2679191"/>
            <a:ext cx="2286000" cy="731520"/>
          </a:xfrm>
          <a:prstGeom prst="rect">
            <a:avLst/>
          </a:prstGeom>
          <a:noFill/>
        </p:spPr>
        <p:txBody>
          <a:bodyPr wrap="square">
            <a:spAutoFit/>
          </a:bodyPr>
          <a:lstStyle/>
          <a:p>
            <a:pPr algn="l"/>
            <a:r>
              <a:rPr sz="1100" b="0">
                <a:solidFill>
                  <a:srgbClr val="6B7A8B"/>
                </a:solidFill>
                <a:latin typeface="Calibri"/>
              </a:rPr>
              <a:t>Vendor + number</a:t>
            </a:r>
          </a:p>
          <a:p>
            <a:pPr algn="l"/>
            <a:r>
              <a:rPr sz="1100" b="0">
                <a:solidFill>
                  <a:srgbClr val="6B7A8B"/>
                </a:solidFill>
                <a:latin typeface="Calibri"/>
              </a:rPr>
              <a:t>+ gross amount</a:t>
            </a:r>
          </a:p>
        </p:txBody>
      </p:sp>
      <p:sp>
        <p:nvSpPr>
          <p:cNvPr id="25" name="Rounded Rectangle 24"/>
          <p:cNvSpPr/>
          <p:nvPr/>
        </p:nvSpPr>
        <p:spPr>
          <a:xfrm>
            <a:off x="502920" y="3931920"/>
            <a:ext cx="2606040" cy="16916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6" name="TextBox 25"/>
          <p:cNvSpPr txBox="1"/>
          <p:nvPr/>
        </p:nvSpPr>
        <p:spPr>
          <a:xfrm>
            <a:off x="649224" y="4041648"/>
            <a:ext cx="457200" cy="320040"/>
          </a:xfrm>
          <a:prstGeom prst="rect">
            <a:avLst/>
          </a:prstGeom>
          <a:noFill/>
        </p:spPr>
        <p:txBody>
          <a:bodyPr wrap="square">
            <a:spAutoFit/>
          </a:bodyPr>
          <a:lstStyle/>
          <a:p>
            <a:pPr algn="l"/>
            <a:r>
              <a:rPr sz="2000" b="1">
                <a:solidFill>
                  <a:srgbClr val="00A19A"/>
                </a:solidFill>
                <a:latin typeface="Calibri"/>
              </a:rPr>
              <a:t>5</a:t>
            </a:r>
          </a:p>
        </p:txBody>
      </p:sp>
      <p:sp>
        <p:nvSpPr>
          <p:cNvPr id="27" name="TextBox 26"/>
          <p:cNvSpPr txBox="1"/>
          <p:nvPr/>
        </p:nvSpPr>
        <p:spPr>
          <a:xfrm>
            <a:off x="649224" y="4434840"/>
            <a:ext cx="2286000" cy="365760"/>
          </a:xfrm>
          <a:prstGeom prst="rect">
            <a:avLst/>
          </a:prstGeom>
          <a:noFill/>
        </p:spPr>
        <p:txBody>
          <a:bodyPr wrap="square">
            <a:spAutoFit/>
          </a:bodyPr>
          <a:lstStyle/>
          <a:p>
            <a:pPr algn="l"/>
            <a:r>
              <a:rPr sz="1500" b="1">
                <a:solidFill>
                  <a:srgbClr val="0B2545"/>
                </a:solidFill>
                <a:latin typeface="Calibri"/>
              </a:rPr>
              <a:t>Resolve vendor</a:t>
            </a:r>
          </a:p>
        </p:txBody>
      </p:sp>
      <p:sp>
        <p:nvSpPr>
          <p:cNvPr id="28" name="TextBox 27"/>
          <p:cNvSpPr txBox="1"/>
          <p:nvPr/>
        </p:nvSpPr>
        <p:spPr>
          <a:xfrm>
            <a:off x="649224" y="4828031"/>
            <a:ext cx="2286000" cy="731520"/>
          </a:xfrm>
          <a:prstGeom prst="rect">
            <a:avLst/>
          </a:prstGeom>
          <a:noFill/>
        </p:spPr>
        <p:txBody>
          <a:bodyPr wrap="square">
            <a:spAutoFit/>
          </a:bodyPr>
          <a:lstStyle/>
          <a:p>
            <a:pPr algn="l"/>
            <a:r>
              <a:rPr sz="1100" b="0">
                <a:solidFill>
                  <a:srgbClr val="6B7A8B"/>
                </a:solidFill>
                <a:latin typeface="Calibri"/>
              </a:rPr>
              <a:t>Fuzzy + pgvector</a:t>
            </a:r>
          </a:p>
          <a:p>
            <a:pPr algn="l"/>
            <a:r>
              <a:rPr sz="1100" b="0">
                <a:solidFill>
                  <a:srgbClr val="6B7A8B"/>
                </a:solidFill>
                <a:latin typeface="Calibri"/>
              </a:rPr>
              <a:t>vendor master</a:t>
            </a:r>
          </a:p>
        </p:txBody>
      </p:sp>
      <p:cxnSp>
        <p:nvCxnSpPr>
          <p:cNvPr id="29" name="Connector 28"/>
          <p:cNvCxnSpPr/>
          <p:nvPr/>
        </p:nvCxnSpPr>
        <p:spPr>
          <a:xfrm>
            <a:off x="3136391" y="4773168"/>
            <a:ext cx="201169"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355848" y="3931920"/>
            <a:ext cx="2606040" cy="16916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1" name="TextBox 30"/>
          <p:cNvSpPr txBox="1"/>
          <p:nvPr/>
        </p:nvSpPr>
        <p:spPr>
          <a:xfrm>
            <a:off x="3502152" y="4041648"/>
            <a:ext cx="457200" cy="320040"/>
          </a:xfrm>
          <a:prstGeom prst="rect">
            <a:avLst/>
          </a:prstGeom>
          <a:noFill/>
        </p:spPr>
        <p:txBody>
          <a:bodyPr wrap="square">
            <a:spAutoFit/>
          </a:bodyPr>
          <a:lstStyle/>
          <a:p>
            <a:pPr algn="l"/>
            <a:r>
              <a:rPr sz="2000" b="1">
                <a:solidFill>
                  <a:srgbClr val="00A19A"/>
                </a:solidFill>
                <a:latin typeface="Calibri"/>
              </a:rPr>
              <a:t>6</a:t>
            </a:r>
          </a:p>
        </p:txBody>
      </p:sp>
      <p:sp>
        <p:nvSpPr>
          <p:cNvPr id="32" name="TextBox 31"/>
          <p:cNvSpPr txBox="1"/>
          <p:nvPr/>
        </p:nvSpPr>
        <p:spPr>
          <a:xfrm>
            <a:off x="3502152" y="4434840"/>
            <a:ext cx="2286000" cy="365760"/>
          </a:xfrm>
          <a:prstGeom prst="rect">
            <a:avLst/>
          </a:prstGeom>
          <a:noFill/>
        </p:spPr>
        <p:txBody>
          <a:bodyPr wrap="square">
            <a:spAutoFit/>
          </a:bodyPr>
          <a:lstStyle/>
          <a:p>
            <a:pPr algn="l"/>
            <a:r>
              <a:rPr sz="1500" b="1">
                <a:solidFill>
                  <a:srgbClr val="0B2545"/>
                </a:solidFill>
                <a:latin typeface="Calibri"/>
              </a:rPr>
              <a:t>Fetch PO / GR</a:t>
            </a:r>
          </a:p>
        </p:txBody>
      </p:sp>
      <p:sp>
        <p:nvSpPr>
          <p:cNvPr id="33" name="TextBox 32"/>
          <p:cNvSpPr txBox="1"/>
          <p:nvPr/>
        </p:nvSpPr>
        <p:spPr>
          <a:xfrm>
            <a:off x="3502152" y="4828031"/>
            <a:ext cx="2286000" cy="731520"/>
          </a:xfrm>
          <a:prstGeom prst="rect">
            <a:avLst/>
          </a:prstGeom>
          <a:noFill/>
        </p:spPr>
        <p:txBody>
          <a:bodyPr wrap="square">
            <a:spAutoFit/>
          </a:bodyPr>
          <a:lstStyle/>
          <a:p>
            <a:pPr algn="l"/>
            <a:r>
              <a:rPr sz="1100" b="0">
                <a:solidFill>
                  <a:srgbClr val="6B7A8B"/>
                </a:solidFill>
                <a:latin typeface="Calibri"/>
              </a:rPr>
              <a:t>ERP purchase order</a:t>
            </a:r>
          </a:p>
          <a:p>
            <a:pPr algn="l"/>
            <a:r>
              <a:rPr sz="1100" b="0">
                <a:solidFill>
                  <a:srgbClr val="6B7A8B"/>
                </a:solidFill>
                <a:latin typeface="Calibri"/>
              </a:rPr>
              <a:t>and goods receipt</a:t>
            </a:r>
          </a:p>
        </p:txBody>
      </p:sp>
      <p:cxnSp>
        <p:nvCxnSpPr>
          <p:cNvPr id="34" name="Connector 33"/>
          <p:cNvCxnSpPr/>
          <p:nvPr/>
        </p:nvCxnSpPr>
        <p:spPr>
          <a:xfrm>
            <a:off x="5989320" y="4773168"/>
            <a:ext cx="201168"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208776" y="3931920"/>
            <a:ext cx="2606040" cy="16916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6" name="TextBox 35"/>
          <p:cNvSpPr txBox="1"/>
          <p:nvPr/>
        </p:nvSpPr>
        <p:spPr>
          <a:xfrm>
            <a:off x="6355080" y="4041648"/>
            <a:ext cx="457200" cy="320040"/>
          </a:xfrm>
          <a:prstGeom prst="rect">
            <a:avLst/>
          </a:prstGeom>
          <a:noFill/>
        </p:spPr>
        <p:txBody>
          <a:bodyPr wrap="square">
            <a:spAutoFit/>
          </a:bodyPr>
          <a:lstStyle/>
          <a:p>
            <a:pPr algn="l"/>
            <a:r>
              <a:rPr sz="2000" b="1">
                <a:solidFill>
                  <a:srgbClr val="00A19A"/>
                </a:solidFill>
                <a:latin typeface="Calibri"/>
              </a:rPr>
              <a:t>7</a:t>
            </a:r>
          </a:p>
        </p:txBody>
      </p:sp>
      <p:sp>
        <p:nvSpPr>
          <p:cNvPr id="37" name="TextBox 36"/>
          <p:cNvSpPr txBox="1"/>
          <p:nvPr/>
        </p:nvSpPr>
        <p:spPr>
          <a:xfrm>
            <a:off x="6355080" y="4434840"/>
            <a:ext cx="2286000" cy="365760"/>
          </a:xfrm>
          <a:prstGeom prst="rect">
            <a:avLst/>
          </a:prstGeom>
          <a:noFill/>
        </p:spPr>
        <p:txBody>
          <a:bodyPr wrap="square">
            <a:spAutoFit/>
          </a:bodyPr>
          <a:lstStyle/>
          <a:p>
            <a:pPr algn="l"/>
            <a:r>
              <a:rPr sz="1500" b="1">
                <a:solidFill>
                  <a:srgbClr val="0B2545"/>
                </a:solidFill>
                <a:latin typeface="Calibri"/>
              </a:rPr>
              <a:t>Match</a:t>
            </a:r>
          </a:p>
        </p:txBody>
      </p:sp>
      <p:sp>
        <p:nvSpPr>
          <p:cNvPr id="38" name="TextBox 37"/>
          <p:cNvSpPr txBox="1"/>
          <p:nvPr/>
        </p:nvSpPr>
        <p:spPr>
          <a:xfrm>
            <a:off x="6355080" y="4828031"/>
            <a:ext cx="2286000" cy="731520"/>
          </a:xfrm>
          <a:prstGeom prst="rect">
            <a:avLst/>
          </a:prstGeom>
          <a:noFill/>
        </p:spPr>
        <p:txBody>
          <a:bodyPr wrap="square">
            <a:spAutoFit/>
          </a:bodyPr>
          <a:lstStyle/>
          <a:p>
            <a:pPr algn="l"/>
            <a:r>
              <a:rPr sz="1100" b="0">
                <a:solidFill>
                  <a:srgbClr val="6B7A8B"/>
                </a:solidFill>
                <a:latin typeface="Calibri"/>
              </a:rPr>
              <a:t>2-way / 3-way,</a:t>
            </a:r>
          </a:p>
          <a:p>
            <a:pPr algn="l"/>
            <a:r>
              <a:rPr sz="1100" b="0">
                <a:solidFill>
                  <a:srgbClr val="6B7A8B"/>
                </a:solidFill>
                <a:latin typeface="Calibri"/>
              </a:rPr>
              <a:t>Decimal arithmetic</a:t>
            </a:r>
          </a:p>
        </p:txBody>
      </p:sp>
      <p:cxnSp>
        <p:nvCxnSpPr>
          <p:cNvPr id="39" name="Connector 38"/>
          <p:cNvCxnSpPr/>
          <p:nvPr/>
        </p:nvCxnSpPr>
        <p:spPr>
          <a:xfrm>
            <a:off x="8842248" y="4773168"/>
            <a:ext cx="201168"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061704" y="3931920"/>
            <a:ext cx="2606040" cy="16916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41" name="TextBox 40"/>
          <p:cNvSpPr txBox="1"/>
          <p:nvPr/>
        </p:nvSpPr>
        <p:spPr>
          <a:xfrm>
            <a:off x="9208008" y="4041648"/>
            <a:ext cx="457200" cy="320040"/>
          </a:xfrm>
          <a:prstGeom prst="rect">
            <a:avLst/>
          </a:prstGeom>
          <a:noFill/>
        </p:spPr>
        <p:txBody>
          <a:bodyPr wrap="square">
            <a:spAutoFit/>
          </a:bodyPr>
          <a:lstStyle/>
          <a:p>
            <a:pPr algn="l"/>
            <a:r>
              <a:rPr sz="2000" b="1">
                <a:solidFill>
                  <a:srgbClr val="00A19A"/>
                </a:solidFill>
                <a:latin typeface="Calibri"/>
              </a:rPr>
              <a:t>8</a:t>
            </a:r>
          </a:p>
        </p:txBody>
      </p:sp>
      <p:sp>
        <p:nvSpPr>
          <p:cNvPr id="42" name="TextBox 41"/>
          <p:cNvSpPr txBox="1"/>
          <p:nvPr/>
        </p:nvSpPr>
        <p:spPr>
          <a:xfrm>
            <a:off x="9208008" y="4434840"/>
            <a:ext cx="2286000" cy="365760"/>
          </a:xfrm>
          <a:prstGeom prst="rect">
            <a:avLst/>
          </a:prstGeom>
          <a:noFill/>
        </p:spPr>
        <p:txBody>
          <a:bodyPr wrap="square">
            <a:spAutoFit/>
          </a:bodyPr>
          <a:lstStyle/>
          <a:p>
            <a:pPr algn="l"/>
            <a:r>
              <a:rPr sz="1500" b="1">
                <a:solidFill>
                  <a:srgbClr val="0B2545"/>
                </a:solidFill>
                <a:latin typeface="Calibri"/>
              </a:rPr>
              <a:t>Post or escalate</a:t>
            </a:r>
          </a:p>
        </p:txBody>
      </p:sp>
      <p:sp>
        <p:nvSpPr>
          <p:cNvPr id="43" name="TextBox 42"/>
          <p:cNvSpPr txBox="1"/>
          <p:nvPr/>
        </p:nvSpPr>
        <p:spPr>
          <a:xfrm>
            <a:off x="9208008" y="4828031"/>
            <a:ext cx="2286000" cy="731520"/>
          </a:xfrm>
          <a:prstGeom prst="rect">
            <a:avLst/>
          </a:prstGeom>
          <a:noFill/>
        </p:spPr>
        <p:txBody>
          <a:bodyPr wrap="square">
            <a:spAutoFit/>
          </a:bodyPr>
          <a:lstStyle/>
          <a:p>
            <a:pPr algn="l"/>
            <a:r>
              <a:rPr sz="1100" b="0">
                <a:solidFill>
                  <a:srgbClr val="6B7A8B"/>
                </a:solidFill>
                <a:latin typeface="Calibri"/>
              </a:rPr>
              <a:t>Journal, or a</a:t>
            </a:r>
          </a:p>
          <a:p>
            <a:pPr algn="l"/>
            <a:r>
              <a:rPr sz="1100" b="0">
                <a:solidFill>
                  <a:srgbClr val="6B7A8B"/>
                </a:solidFill>
                <a:latin typeface="Calibri"/>
              </a:rPr>
              <a:t>human approver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Architecture</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One FastAPI service, four backing systems</a:t>
            </a:r>
          </a:p>
        </p:txBody>
      </p:sp>
      <p:sp>
        <p:nvSpPr>
          <p:cNvPr id="6" name="Rounded Rectangle 5"/>
          <p:cNvSpPr/>
          <p:nvPr/>
        </p:nvSpPr>
        <p:spPr>
          <a:xfrm>
            <a:off x="502920" y="1737360"/>
            <a:ext cx="2148840" cy="228600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7" name="TextBox 6"/>
          <p:cNvSpPr txBox="1"/>
          <p:nvPr/>
        </p:nvSpPr>
        <p:spPr>
          <a:xfrm>
            <a:off x="566928" y="1810512"/>
            <a:ext cx="2011680" cy="274320"/>
          </a:xfrm>
          <a:prstGeom prst="rect">
            <a:avLst/>
          </a:prstGeom>
          <a:noFill/>
        </p:spPr>
        <p:txBody>
          <a:bodyPr wrap="square">
            <a:spAutoFit/>
          </a:bodyPr>
          <a:lstStyle/>
          <a:p>
            <a:pPr algn="l"/>
            <a:r>
              <a:rPr sz="1000" b="1">
                <a:solidFill>
                  <a:srgbClr val="6B7A8B"/>
                </a:solidFill>
                <a:latin typeface="Calibri"/>
              </a:rPr>
              <a:t>SOURCES</a:t>
            </a:r>
          </a:p>
        </p:txBody>
      </p:sp>
      <p:sp>
        <p:nvSpPr>
          <p:cNvPr id="8" name="Rounded Rectangle 7"/>
          <p:cNvSpPr/>
          <p:nvPr/>
        </p:nvSpPr>
        <p:spPr>
          <a:xfrm>
            <a:off x="658368" y="2148840"/>
            <a:ext cx="1828800" cy="365760"/>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Microsoft Graph</a:t>
            </a:r>
          </a:p>
        </p:txBody>
      </p:sp>
      <p:sp>
        <p:nvSpPr>
          <p:cNvPr id="9" name="Rounded Rectangle 8"/>
          <p:cNvSpPr/>
          <p:nvPr/>
        </p:nvSpPr>
        <p:spPr>
          <a:xfrm>
            <a:off x="658368" y="2587752"/>
            <a:ext cx="1828800" cy="365760"/>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Gmail API</a:t>
            </a:r>
          </a:p>
        </p:txBody>
      </p:sp>
      <p:sp>
        <p:nvSpPr>
          <p:cNvPr id="10" name="Rounded Rectangle 9"/>
          <p:cNvSpPr/>
          <p:nvPr/>
        </p:nvSpPr>
        <p:spPr>
          <a:xfrm>
            <a:off x="658368" y="3026664"/>
            <a:ext cx="1828800" cy="365760"/>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Local folder</a:t>
            </a:r>
          </a:p>
        </p:txBody>
      </p:sp>
      <p:sp>
        <p:nvSpPr>
          <p:cNvPr id="11" name="Rounded Rectangle 10"/>
          <p:cNvSpPr/>
          <p:nvPr/>
        </p:nvSpPr>
        <p:spPr>
          <a:xfrm>
            <a:off x="658368" y="3465576"/>
            <a:ext cx="1828800" cy="365760"/>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REST upload</a:t>
            </a:r>
          </a:p>
        </p:txBody>
      </p:sp>
      <p:sp>
        <p:nvSpPr>
          <p:cNvPr id="12" name="Rounded Rectangle 11"/>
          <p:cNvSpPr/>
          <p:nvPr/>
        </p:nvSpPr>
        <p:spPr>
          <a:xfrm>
            <a:off x="2971800" y="1737360"/>
            <a:ext cx="5486400" cy="3611880"/>
          </a:xfrm>
          <a:prstGeom prst="roundRect">
            <a:avLst/>
          </a:prstGeom>
          <a:solidFill>
            <a:srgbClr val="ECF6F5"/>
          </a:solidFill>
          <a:ln w="12700">
            <a:solidFill>
              <a:srgbClr val="00A1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3" name="TextBox 12"/>
          <p:cNvSpPr txBox="1"/>
          <p:nvPr/>
        </p:nvSpPr>
        <p:spPr>
          <a:xfrm>
            <a:off x="3063240" y="1801368"/>
            <a:ext cx="5303520" cy="274320"/>
          </a:xfrm>
          <a:prstGeom prst="rect">
            <a:avLst/>
          </a:prstGeom>
          <a:noFill/>
        </p:spPr>
        <p:txBody>
          <a:bodyPr wrap="square">
            <a:spAutoFit/>
          </a:bodyPr>
          <a:lstStyle/>
          <a:p>
            <a:pPr algn="l"/>
            <a:r>
              <a:rPr sz="1000" b="1">
                <a:solidFill>
                  <a:srgbClr val="00A19A"/>
                </a:solidFill>
                <a:latin typeface="Calibri"/>
              </a:rPr>
              <a:t>INVOICE-TO-PAYMENT AGENT  (FastAPI)</a:t>
            </a:r>
          </a:p>
        </p:txBody>
      </p:sp>
      <p:sp>
        <p:nvSpPr>
          <p:cNvPr id="14" name="Rounded Rectangle 13"/>
          <p:cNvSpPr/>
          <p:nvPr/>
        </p:nvSpPr>
        <p:spPr>
          <a:xfrm>
            <a:off x="3127248" y="2148840"/>
            <a:ext cx="2514600" cy="896112"/>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5" name="TextBox 14"/>
          <p:cNvSpPr txBox="1"/>
          <p:nvPr/>
        </p:nvSpPr>
        <p:spPr>
          <a:xfrm>
            <a:off x="3236976" y="2258568"/>
            <a:ext cx="2286000" cy="320040"/>
          </a:xfrm>
          <a:prstGeom prst="rect">
            <a:avLst/>
          </a:prstGeom>
          <a:noFill/>
        </p:spPr>
        <p:txBody>
          <a:bodyPr wrap="square">
            <a:spAutoFit/>
          </a:bodyPr>
          <a:lstStyle/>
          <a:p>
            <a:pPr algn="l"/>
            <a:r>
              <a:rPr sz="1200" b="1">
                <a:solidFill>
                  <a:srgbClr val="0B2545"/>
                </a:solidFill>
                <a:latin typeface="Calibri"/>
              </a:rPr>
              <a:t>Ingestion</a:t>
            </a:r>
          </a:p>
        </p:txBody>
      </p:sp>
      <p:sp>
        <p:nvSpPr>
          <p:cNvPr id="16" name="TextBox 15"/>
          <p:cNvSpPr txBox="1"/>
          <p:nvPr/>
        </p:nvSpPr>
        <p:spPr>
          <a:xfrm>
            <a:off x="3236976" y="2606040"/>
            <a:ext cx="2286000" cy="320040"/>
          </a:xfrm>
          <a:prstGeom prst="rect">
            <a:avLst/>
          </a:prstGeom>
          <a:noFill/>
        </p:spPr>
        <p:txBody>
          <a:bodyPr wrap="square">
            <a:spAutoFit/>
          </a:bodyPr>
          <a:lstStyle/>
          <a:p>
            <a:pPr algn="l"/>
            <a:r>
              <a:rPr sz="1000" b="0">
                <a:solidFill>
                  <a:srgbClr val="6B7A8B"/>
                </a:solidFill>
                <a:latin typeface="Calibri"/>
              </a:rPr>
              <a:t>mailbox providers</a:t>
            </a:r>
          </a:p>
        </p:txBody>
      </p:sp>
      <p:sp>
        <p:nvSpPr>
          <p:cNvPr id="17" name="Rounded Rectangle 16"/>
          <p:cNvSpPr/>
          <p:nvPr/>
        </p:nvSpPr>
        <p:spPr>
          <a:xfrm>
            <a:off x="5797296" y="2148840"/>
            <a:ext cx="2514600" cy="896112"/>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8" name="TextBox 17"/>
          <p:cNvSpPr txBox="1"/>
          <p:nvPr/>
        </p:nvSpPr>
        <p:spPr>
          <a:xfrm>
            <a:off x="5907024" y="2258568"/>
            <a:ext cx="2286000" cy="320040"/>
          </a:xfrm>
          <a:prstGeom prst="rect">
            <a:avLst/>
          </a:prstGeom>
          <a:noFill/>
        </p:spPr>
        <p:txBody>
          <a:bodyPr wrap="square">
            <a:spAutoFit/>
          </a:bodyPr>
          <a:lstStyle/>
          <a:p>
            <a:pPr algn="l"/>
            <a:r>
              <a:rPr sz="1200" b="1">
                <a:solidFill>
                  <a:srgbClr val="0B2545"/>
                </a:solidFill>
                <a:latin typeface="Calibri"/>
              </a:rPr>
              <a:t>Docling parser</a:t>
            </a:r>
          </a:p>
        </p:txBody>
      </p:sp>
      <p:sp>
        <p:nvSpPr>
          <p:cNvPr id="19" name="TextBox 18"/>
          <p:cNvSpPr txBox="1"/>
          <p:nvPr/>
        </p:nvSpPr>
        <p:spPr>
          <a:xfrm>
            <a:off x="5907024" y="2606040"/>
            <a:ext cx="2286000" cy="320040"/>
          </a:xfrm>
          <a:prstGeom prst="rect">
            <a:avLst/>
          </a:prstGeom>
          <a:noFill/>
        </p:spPr>
        <p:txBody>
          <a:bodyPr wrap="square">
            <a:spAutoFit/>
          </a:bodyPr>
          <a:lstStyle/>
          <a:p>
            <a:pPr algn="l"/>
            <a:r>
              <a:rPr sz="1000" b="0">
                <a:solidFill>
                  <a:srgbClr val="6B7A8B"/>
                </a:solidFill>
                <a:latin typeface="Calibri"/>
              </a:rPr>
              <a:t>OCR + tables</a:t>
            </a:r>
          </a:p>
        </p:txBody>
      </p:sp>
      <p:sp>
        <p:nvSpPr>
          <p:cNvPr id="20" name="Rounded Rectangle 19"/>
          <p:cNvSpPr/>
          <p:nvPr/>
        </p:nvSpPr>
        <p:spPr>
          <a:xfrm>
            <a:off x="3127248" y="3191256"/>
            <a:ext cx="2514600" cy="896112"/>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1" name="TextBox 20"/>
          <p:cNvSpPr txBox="1"/>
          <p:nvPr/>
        </p:nvSpPr>
        <p:spPr>
          <a:xfrm>
            <a:off x="3236976" y="3300984"/>
            <a:ext cx="2286000" cy="320040"/>
          </a:xfrm>
          <a:prstGeom prst="rect">
            <a:avLst/>
          </a:prstGeom>
          <a:noFill/>
        </p:spPr>
        <p:txBody>
          <a:bodyPr wrap="square">
            <a:spAutoFit/>
          </a:bodyPr>
          <a:lstStyle/>
          <a:p>
            <a:pPr algn="l"/>
            <a:r>
              <a:rPr sz="1200" b="1">
                <a:solidFill>
                  <a:srgbClr val="0B2545"/>
                </a:solidFill>
                <a:latin typeface="Calibri"/>
              </a:rPr>
              <a:t>Extraction</a:t>
            </a:r>
          </a:p>
        </p:txBody>
      </p:sp>
      <p:sp>
        <p:nvSpPr>
          <p:cNvPr id="22" name="TextBox 21"/>
          <p:cNvSpPr txBox="1"/>
          <p:nvPr/>
        </p:nvSpPr>
        <p:spPr>
          <a:xfrm>
            <a:off x="3236976" y="3648456"/>
            <a:ext cx="2286000" cy="320040"/>
          </a:xfrm>
          <a:prstGeom prst="rect">
            <a:avLst/>
          </a:prstGeom>
          <a:noFill/>
        </p:spPr>
        <p:txBody>
          <a:bodyPr wrap="square">
            <a:spAutoFit/>
          </a:bodyPr>
          <a:lstStyle/>
          <a:p>
            <a:pPr algn="l"/>
            <a:r>
              <a:rPr sz="1000" b="0">
                <a:solidFill>
                  <a:srgbClr val="6B7A8B"/>
                </a:solidFill>
                <a:latin typeface="Calibri"/>
              </a:rPr>
              <a:t>Ollama + schema</a:t>
            </a:r>
          </a:p>
        </p:txBody>
      </p:sp>
      <p:sp>
        <p:nvSpPr>
          <p:cNvPr id="23" name="Rounded Rectangle 22"/>
          <p:cNvSpPr/>
          <p:nvPr/>
        </p:nvSpPr>
        <p:spPr>
          <a:xfrm>
            <a:off x="5797296" y="3191256"/>
            <a:ext cx="2514600" cy="896112"/>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4" name="TextBox 23"/>
          <p:cNvSpPr txBox="1"/>
          <p:nvPr/>
        </p:nvSpPr>
        <p:spPr>
          <a:xfrm>
            <a:off x="5907024" y="3300984"/>
            <a:ext cx="2286000" cy="320040"/>
          </a:xfrm>
          <a:prstGeom prst="rect">
            <a:avLst/>
          </a:prstGeom>
          <a:noFill/>
        </p:spPr>
        <p:txBody>
          <a:bodyPr wrap="square">
            <a:spAutoFit/>
          </a:bodyPr>
          <a:lstStyle/>
          <a:p>
            <a:pPr algn="l"/>
            <a:r>
              <a:rPr sz="1200" b="1">
                <a:solidFill>
                  <a:srgbClr val="0B2545"/>
                </a:solidFill>
                <a:latin typeface="Calibri"/>
              </a:rPr>
              <a:t>LangGraph</a:t>
            </a:r>
          </a:p>
        </p:txBody>
      </p:sp>
      <p:sp>
        <p:nvSpPr>
          <p:cNvPr id="25" name="TextBox 24"/>
          <p:cNvSpPr txBox="1"/>
          <p:nvPr/>
        </p:nvSpPr>
        <p:spPr>
          <a:xfrm>
            <a:off x="5907024" y="3648456"/>
            <a:ext cx="2286000" cy="320040"/>
          </a:xfrm>
          <a:prstGeom prst="rect">
            <a:avLst/>
          </a:prstGeom>
          <a:noFill/>
        </p:spPr>
        <p:txBody>
          <a:bodyPr wrap="square">
            <a:spAutoFit/>
          </a:bodyPr>
          <a:lstStyle/>
          <a:p>
            <a:pPr algn="l"/>
            <a:r>
              <a:rPr sz="1000" b="0">
                <a:solidFill>
                  <a:srgbClr val="6B7A8B"/>
                </a:solidFill>
                <a:latin typeface="Calibri"/>
              </a:rPr>
              <a:t>checkpointed workflow</a:t>
            </a:r>
          </a:p>
        </p:txBody>
      </p:sp>
      <p:sp>
        <p:nvSpPr>
          <p:cNvPr id="26" name="Rounded Rectangle 25"/>
          <p:cNvSpPr/>
          <p:nvPr/>
        </p:nvSpPr>
        <p:spPr>
          <a:xfrm>
            <a:off x="3127248" y="4233672"/>
            <a:ext cx="2514600" cy="896112"/>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7" name="TextBox 26"/>
          <p:cNvSpPr txBox="1"/>
          <p:nvPr/>
        </p:nvSpPr>
        <p:spPr>
          <a:xfrm>
            <a:off x="3236976" y="4343400"/>
            <a:ext cx="2286000" cy="320040"/>
          </a:xfrm>
          <a:prstGeom prst="rect">
            <a:avLst/>
          </a:prstGeom>
          <a:noFill/>
        </p:spPr>
        <p:txBody>
          <a:bodyPr wrap="square">
            <a:spAutoFit/>
          </a:bodyPr>
          <a:lstStyle/>
          <a:p>
            <a:pPr algn="l"/>
            <a:r>
              <a:rPr sz="1200" b="1">
                <a:solidFill>
                  <a:srgbClr val="0B2545"/>
                </a:solidFill>
                <a:latin typeface="Calibri"/>
              </a:rPr>
              <a:t>Matching engine</a:t>
            </a:r>
          </a:p>
        </p:txBody>
      </p:sp>
      <p:sp>
        <p:nvSpPr>
          <p:cNvPr id="28" name="TextBox 27"/>
          <p:cNvSpPr txBox="1"/>
          <p:nvPr/>
        </p:nvSpPr>
        <p:spPr>
          <a:xfrm>
            <a:off x="3236976" y="4690872"/>
            <a:ext cx="2286000" cy="320040"/>
          </a:xfrm>
          <a:prstGeom prst="rect">
            <a:avLst/>
          </a:prstGeom>
          <a:noFill/>
        </p:spPr>
        <p:txBody>
          <a:bodyPr wrap="square">
            <a:spAutoFit/>
          </a:bodyPr>
          <a:lstStyle/>
          <a:p>
            <a:pPr algn="l"/>
            <a:r>
              <a:rPr sz="1000" b="0">
                <a:solidFill>
                  <a:srgbClr val="6B7A8B"/>
                </a:solidFill>
                <a:latin typeface="Calibri"/>
              </a:rPr>
              <a:t>Decimal, deterministic</a:t>
            </a:r>
          </a:p>
        </p:txBody>
      </p:sp>
      <p:sp>
        <p:nvSpPr>
          <p:cNvPr id="29" name="Rounded Rectangle 28"/>
          <p:cNvSpPr/>
          <p:nvPr/>
        </p:nvSpPr>
        <p:spPr>
          <a:xfrm>
            <a:off x="5797296" y="4233672"/>
            <a:ext cx="2514600" cy="896112"/>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0" name="TextBox 29"/>
          <p:cNvSpPr txBox="1"/>
          <p:nvPr/>
        </p:nvSpPr>
        <p:spPr>
          <a:xfrm>
            <a:off x="5907024" y="4343400"/>
            <a:ext cx="2286000" cy="320040"/>
          </a:xfrm>
          <a:prstGeom prst="rect">
            <a:avLst/>
          </a:prstGeom>
          <a:noFill/>
        </p:spPr>
        <p:txBody>
          <a:bodyPr wrap="square">
            <a:spAutoFit/>
          </a:bodyPr>
          <a:lstStyle/>
          <a:p>
            <a:pPr algn="l"/>
            <a:r>
              <a:rPr sz="1200" b="1">
                <a:solidFill>
                  <a:srgbClr val="0B2545"/>
                </a:solidFill>
                <a:latin typeface="Calibri"/>
              </a:rPr>
              <a:t>LlamaIndex RAG</a:t>
            </a:r>
          </a:p>
        </p:txBody>
      </p:sp>
      <p:sp>
        <p:nvSpPr>
          <p:cNvPr id="31" name="TextBox 30"/>
          <p:cNvSpPr txBox="1"/>
          <p:nvPr/>
        </p:nvSpPr>
        <p:spPr>
          <a:xfrm>
            <a:off x="5907024" y="4690872"/>
            <a:ext cx="2286000" cy="320040"/>
          </a:xfrm>
          <a:prstGeom prst="rect">
            <a:avLst/>
          </a:prstGeom>
          <a:noFill/>
        </p:spPr>
        <p:txBody>
          <a:bodyPr wrap="square">
            <a:spAutoFit/>
          </a:bodyPr>
          <a:lstStyle/>
          <a:p>
            <a:pPr algn="l"/>
            <a:r>
              <a:rPr sz="1000" b="0">
                <a:solidFill>
                  <a:srgbClr val="6B7A8B"/>
                </a:solidFill>
                <a:latin typeface="Calibri"/>
              </a:rPr>
              <a:t>vendor + policy</a:t>
            </a:r>
          </a:p>
        </p:txBody>
      </p:sp>
      <p:sp>
        <p:nvSpPr>
          <p:cNvPr id="32" name="Rounded Rectangle 31"/>
          <p:cNvSpPr/>
          <p:nvPr/>
        </p:nvSpPr>
        <p:spPr>
          <a:xfrm>
            <a:off x="8823960" y="1737360"/>
            <a:ext cx="2834640" cy="36118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3" name="TextBox 32"/>
          <p:cNvSpPr txBox="1"/>
          <p:nvPr/>
        </p:nvSpPr>
        <p:spPr>
          <a:xfrm>
            <a:off x="8915400" y="1801368"/>
            <a:ext cx="2651760" cy="274320"/>
          </a:xfrm>
          <a:prstGeom prst="rect">
            <a:avLst/>
          </a:prstGeom>
          <a:noFill/>
        </p:spPr>
        <p:txBody>
          <a:bodyPr wrap="square">
            <a:spAutoFit/>
          </a:bodyPr>
          <a:lstStyle/>
          <a:p>
            <a:pPr algn="l"/>
            <a:r>
              <a:rPr sz="1000" b="1">
                <a:solidFill>
                  <a:srgbClr val="6B7A8B"/>
                </a:solidFill>
                <a:latin typeface="Calibri"/>
              </a:rPr>
              <a:t>STATE AND EXTERNAL</a:t>
            </a:r>
          </a:p>
        </p:txBody>
      </p:sp>
      <p:sp>
        <p:nvSpPr>
          <p:cNvPr id="34" name="Rounded Rectangle 33"/>
          <p:cNvSpPr/>
          <p:nvPr/>
        </p:nvSpPr>
        <p:spPr>
          <a:xfrm>
            <a:off x="8979408" y="2148840"/>
            <a:ext cx="2542032" cy="676656"/>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5" name="TextBox 34"/>
          <p:cNvSpPr txBox="1"/>
          <p:nvPr/>
        </p:nvSpPr>
        <p:spPr>
          <a:xfrm>
            <a:off x="9070848" y="2194560"/>
            <a:ext cx="2377440" cy="274320"/>
          </a:xfrm>
          <a:prstGeom prst="rect">
            <a:avLst/>
          </a:prstGeom>
          <a:noFill/>
        </p:spPr>
        <p:txBody>
          <a:bodyPr wrap="square">
            <a:spAutoFit/>
          </a:bodyPr>
          <a:lstStyle/>
          <a:p>
            <a:pPr algn="l"/>
            <a:r>
              <a:rPr sz="1100" b="1">
                <a:solidFill>
                  <a:srgbClr val="0B2545"/>
                </a:solidFill>
                <a:latin typeface="Calibri"/>
              </a:rPr>
              <a:t>PostgreSQL + pgvector</a:t>
            </a:r>
          </a:p>
        </p:txBody>
      </p:sp>
      <p:sp>
        <p:nvSpPr>
          <p:cNvPr id="36" name="TextBox 35"/>
          <p:cNvSpPr txBox="1"/>
          <p:nvPr/>
        </p:nvSpPr>
        <p:spPr>
          <a:xfrm>
            <a:off x="9070848" y="2441448"/>
            <a:ext cx="2377440" cy="365760"/>
          </a:xfrm>
          <a:prstGeom prst="rect">
            <a:avLst/>
          </a:prstGeom>
          <a:noFill/>
        </p:spPr>
        <p:txBody>
          <a:bodyPr wrap="square">
            <a:spAutoFit/>
          </a:bodyPr>
          <a:lstStyle/>
          <a:p>
            <a:pPr algn="l"/>
            <a:r>
              <a:rPr sz="800" b="0">
                <a:solidFill>
                  <a:srgbClr val="6B7A8B"/>
                </a:solidFill>
                <a:latin typeface="Calibri"/>
              </a:rPr>
              <a:t>runs, matches, journals,</a:t>
            </a:r>
          </a:p>
          <a:p>
            <a:pPr algn="l"/>
            <a:r>
              <a:rPr sz="800" b="0">
                <a:solidFill>
                  <a:srgbClr val="6B7A8B"/>
                </a:solidFill>
                <a:latin typeface="Calibri"/>
              </a:rPr>
              <a:t>audit, embeddings, checkpoints</a:t>
            </a:r>
          </a:p>
        </p:txBody>
      </p:sp>
      <p:sp>
        <p:nvSpPr>
          <p:cNvPr id="37" name="Rounded Rectangle 36"/>
          <p:cNvSpPr/>
          <p:nvPr/>
        </p:nvSpPr>
        <p:spPr>
          <a:xfrm>
            <a:off x="8979408" y="2935224"/>
            <a:ext cx="2542032" cy="676656"/>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8" name="TextBox 37"/>
          <p:cNvSpPr txBox="1"/>
          <p:nvPr/>
        </p:nvSpPr>
        <p:spPr>
          <a:xfrm>
            <a:off x="9070848" y="2980944"/>
            <a:ext cx="2377440" cy="274320"/>
          </a:xfrm>
          <a:prstGeom prst="rect">
            <a:avLst/>
          </a:prstGeom>
          <a:noFill/>
        </p:spPr>
        <p:txBody>
          <a:bodyPr wrap="square">
            <a:spAutoFit/>
          </a:bodyPr>
          <a:lstStyle/>
          <a:p>
            <a:pPr algn="l"/>
            <a:r>
              <a:rPr sz="1100" b="1">
                <a:solidFill>
                  <a:srgbClr val="0B2545"/>
                </a:solidFill>
                <a:latin typeface="Calibri"/>
              </a:rPr>
              <a:t>ERP API</a:t>
            </a:r>
          </a:p>
        </p:txBody>
      </p:sp>
      <p:sp>
        <p:nvSpPr>
          <p:cNvPr id="39" name="TextBox 38"/>
          <p:cNvSpPr txBox="1"/>
          <p:nvPr/>
        </p:nvSpPr>
        <p:spPr>
          <a:xfrm>
            <a:off x="9070848" y="3227832"/>
            <a:ext cx="2377440" cy="365760"/>
          </a:xfrm>
          <a:prstGeom prst="rect">
            <a:avLst/>
          </a:prstGeom>
          <a:noFill/>
        </p:spPr>
        <p:txBody>
          <a:bodyPr wrap="square">
            <a:spAutoFit/>
          </a:bodyPr>
          <a:lstStyle/>
          <a:p>
            <a:pPr algn="l"/>
            <a:r>
              <a:rPr sz="800" b="0">
                <a:solidFill>
                  <a:srgbClr val="6B7A8B"/>
                </a:solidFill>
                <a:latin typeface="Calibri"/>
              </a:rPr>
              <a:t>mock SAP S/4HANA</a:t>
            </a:r>
          </a:p>
        </p:txBody>
      </p:sp>
      <p:sp>
        <p:nvSpPr>
          <p:cNvPr id="40" name="Rounded Rectangle 39"/>
          <p:cNvSpPr/>
          <p:nvPr/>
        </p:nvSpPr>
        <p:spPr>
          <a:xfrm>
            <a:off x="8979408" y="3721608"/>
            <a:ext cx="2542032" cy="676656"/>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41" name="TextBox 40"/>
          <p:cNvSpPr txBox="1"/>
          <p:nvPr/>
        </p:nvSpPr>
        <p:spPr>
          <a:xfrm>
            <a:off x="9070848" y="3767328"/>
            <a:ext cx="2377440" cy="274320"/>
          </a:xfrm>
          <a:prstGeom prst="rect">
            <a:avLst/>
          </a:prstGeom>
          <a:noFill/>
        </p:spPr>
        <p:txBody>
          <a:bodyPr wrap="square">
            <a:spAutoFit/>
          </a:bodyPr>
          <a:lstStyle/>
          <a:p>
            <a:pPr algn="l"/>
            <a:r>
              <a:rPr sz="1100" b="1">
                <a:solidFill>
                  <a:srgbClr val="0B2545"/>
                </a:solidFill>
                <a:latin typeface="Calibri"/>
              </a:rPr>
              <a:t>Ollama</a:t>
            </a:r>
          </a:p>
        </p:txBody>
      </p:sp>
      <p:sp>
        <p:nvSpPr>
          <p:cNvPr id="42" name="TextBox 41"/>
          <p:cNvSpPr txBox="1"/>
          <p:nvPr/>
        </p:nvSpPr>
        <p:spPr>
          <a:xfrm>
            <a:off x="9070848" y="4014216"/>
            <a:ext cx="2377440" cy="365760"/>
          </a:xfrm>
          <a:prstGeom prst="rect">
            <a:avLst/>
          </a:prstGeom>
          <a:noFill/>
        </p:spPr>
        <p:txBody>
          <a:bodyPr wrap="square">
            <a:spAutoFit/>
          </a:bodyPr>
          <a:lstStyle/>
          <a:p>
            <a:pPr algn="l"/>
            <a:r>
              <a:rPr sz="800" b="0">
                <a:solidFill>
                  <a:srgbClr val="6B7A8B"/>
                </a:solidFill>
                <a:latin typeface="Calibri"/>
              </a:rPr>
              <a:t>llama3.1:8b, nomic-embed</a:t>
            </a:r>
          </a:p>
        </p:txBody>
      </p:sp>
      <p:sp>
        <p:nvSpPr>
          <p:cNvPr id="43" name="Rounded Rectangle 42"/>
          <p:cNvSpPr/>
          <p:nvPr/>
        </p:nvSpPr>
        <p:spPr>
          <a:xfrm>
            <a:off x="8979408" y="4507992"/>
            <a:ext cx="2542032" cy="676656"/>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44" name="TextBox 43"/>
          <p:cNvSpPr txBox="1"/>
          <p:nvPr/>
        </p:nvSpPr>
        <p:spPr>
          <a:xfrm>
            <a:off x="9070848" y="4553712"/>
            <a:ext cx="2377440" cy="274320"/>
          </a:xfrm>
          <a:prstGeom prst="rect">
            <a:avLst/>
          </a:prstGeom>
          <a:noFill/>
        </p:spPr>
        <p:txBody>
          <a:bodyPr wrap="square">
            <a:spAutoFit/>
          </a:bodyPr>
          <a:lstStyle/>
          <a:p>
            <a:pPr algn="l"/>
            <a:r>
              <a:rPr sz="1100" b="1">
                <a:solidFill>
                  <a:srgbClr val="0B2545"/>
                </a:solidFill>
                <a:latin typeface="Calibri"/>
              </a:rPr>
              <a:t>Arize Phoenix</a:t>
            </a:r>
          </a:p>
        </p:txBody>
      </p:sp>
      <p:sp>
        <p:nvSpPr>
          <p:cNvPr id="45" name="TextBox 44"/>
          <p:cNvSpPr txBox="1"/>
          <p:nvPr/>
        </p:nvSpPr>
        <p:spPr>
          <a:xfrm>
            <a:off x="9070848" y="4800600"/>
            <a:ext cx="2377440" cy="365760"/>
          </a:xfrm>
          <a:prstGeom prst="rect">
            <a:avLst/>
          </a:prstGeom>
          <a:noFill/>
        </p:spPr>
        <p:txBody>
          <a:bodyPr wrap="square">
            <a:spAutoFit/>
          </a:bodyPr>
          <a:lstStyle/>
          <a:p>
            <a:pPr algn="l"/>
            <a:r>
              <a:rPr sz="800" b="0">
                <a:solidFill>
                  <a:srgbClr val="6B7A8B"/>
                </a:solidFill>
                <a:latin typeface="Calibri"/>
              </a:rPr>
              <a:t>OTLP traces</a:t>
            </a:r>
          </a:p>
        </p:txBody>
      </p:sp>
      <p:cxnSp>
        <p:nvCxnSpPr>
          <p:cNvPr id="46" name="Connector 45"/>
          <p:cNvCxnSpPr/>
          <p:nvPr/>
        </p:nvCxnSpPr>
        <p:spPr>
          <a:xfrm>
            <a:off x="2679192" y="2880360"/>
            <a:ext cx="265176"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485632" y="3520440"/>
            <a:ext cx="310896"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2971800" y="5532120"/>
            <a:ext cx="5486400" cy="566928"/>
          </a:xfrm>
          <a:prstGeom prst="roundRect">
            <a:avLst/>
          </a:prstGeom>
          <a:solidFill>
            <a:srgbClr val="FDF3E4"/>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0B2545"/>
                </a:solidFill>
                <a:latin typeface="Calibri"/>
              </a:rPr>
              <a:t>Human approver: reviews exceptions, approves or rejects, resumes the checkpointed run</a:t>
            </a:r>
          </a:p>
        </p:txBody>
      </p:sp>
      <p:cxnSp>
        <p:nvCxnSpPr>
          <p:cNvPr id="49" name="Connector 48"/>
          <p:cNvCxnSpPr/>
          <p:nvPr/>
        </p:nvCxnSpPr>
        <p:spPr>
          <a:xfrm>
            <a:off x="5715000" y="5376672"/>
            <a:ext cx="0" cy="128016"/>
          </a:xfrm>
          <a:prstGeom prst="bentConnector3">
            <a:avLst/>
          </a:prstGeom>
          <a:ln w="22225">
            <a:solidFill>
              <a:srgbClr val="E88B2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The accounts-payable workflow</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A LangGraph state machine, checkpointed to Postgres at every node</a:t>
            </a:r>
          </a:p>
        </p:txBody>
      </p:sp>
      <p:sp>
        <p:nvSpPr>
          <p:cNvPr id="6" name="Rounded Rectangle 5"/>
          <p:cNvSpPr/>
          <p:nvPr/>
        </p:nvSpPr>
        <p:spPr>
          <a:xfrm>
            <a:off x="502920" y="1965960"/>
            <a:ext cx="1463040" cy="777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parse</a:t>
            </a:r>
          </a:p>
        </p:txBody>
      </p:sp>
      <p:cxnSp>
        <p:nvCxnSpPr>
          <p:cNvPr id="7" name="Connector 6"/>
          <p:cNvCxnSpPr/>
          <p:nvPr/>
        </p:nvCxnSpPr>
        <p:spPr>
          <a:xfrm>
            <a:off x="1984248" y="2350008"/>
            <a:ext cx="137160"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39696" y="1965960"/>
            <a:ext cx="1463040" cy="777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extract</a:t>
            </a:r>
          </a:p>
        </p:txBody>
      </p:sp>
      <p:cxnSp>
        <p:nvCxnSpPr>
          <p:cNvPr id="9" name="Connector 8"/>
          <p:cNvCxnSpPr/>
          <p:nvPr/>
        </p:nvCxnSpPr>
        <p:spPr>
          <a:xfrm>
            <a:off x="3621024" y="2350008"/>
            <a:ext cx="137159"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6472" y="1965960"/>
            <a:ext cx="1463040" cy="777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persist</a:t>
            </a:r>
          </a:p>
        </p:txBody>
      </p:sp>
      <p:cxnSp>
        <p:nvCxnSpPr>
          <p:cNvPr id="11" name="Connector 10"/>
          <p:cNvCxnSpPr/>
          <p:nvPr/>
        </p:nvCxnSpPr>
        <p:spPr>
          <a:xfrm>
            <a:off x="5257800" y="2350008"/>
            <a:ext cx="137160"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413248" y="1965960"/>
            <a:ext cx="1463040" cy="777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duplicate</a:t>
            </a:r>
          </a:p>
          <a:p>
            <a:pPr algn="ctr"/>
            <a:r>
              <a:rPr sz="1100" b="0">
                <a:solidFill>
                  <a:srgbClr val="334455"/>
                </a:solidFill>
                <a:latin typeface="Calibri"/>
              </a:rPr>
              <a:t>check</a:t>
            </a:r>
          </a:p>
        </p:txBody>
      </p:sp>
      <p:cxnSp>
        <p:nvCxnSpPr>
          <p:cNvPr id="13" name="Connector 12"/>
          <p:cNvCxnSpPr/>
          <p:nvPr/>
        </p:nvCxnSpPr>
        <p:spPr>
          <a:xfrm>
            <a:off x="6894576" y="2350008"/>
            <a:ext cx="137160"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050024" y="1965960"/>
            <a:ext cx="1463040" cy="777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resolve</a:t>
            </a:r>
          </a:p>
          <a:p>
            <a:pPr algn="ctr"/>
            <a:r>
              <a:rPr sz="1100" b="0">
                <a:solidFill>
                  <a:srgbClr val="334455"/>
                </a:solidFill>
                <a:latin typeface="Calibri"/>
              </a:rPr>
              <a:t>vendor</a:t>
            </a:r>
          </a:p>
        </p:txBody>
      </p:sp>
      <p:cxnSp>
        <p:nvCxnSpPr>
          <p:cNvPr id="15" name="Connector 14"/>
          <p:cNvCxnSpPr/>
          <p:nvPr/>
        </p:nvCxnSpPr>
        <p:spPr>
          <a:xfrm>
            <a:off x="8531352" y="2350008"/>
            <a:ext cx="137160"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686800" y="1965960"/>
            <a:ext cx="1463040" cy="777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fetch PO</a:t>
            </a:r>
          </a:p>
          <a:p>
            <a:pPr algn="ctr"/>
            <a:r>
              <a:rPr sz="1100" b="0">
                <a:solidFill>
                  <a:srgbClr val="334455"/>
                </a:solidFill>
                <a:latin typeface="Calibri"/>
              </a:rPr>
              <a:t>+ GR</a:t>
            </a:r>
          </a:p>
        </p:txBody>
      </p:sp>
      <p:cxnSp>
        <p:nvCxnSpPr>
          <p:cNvPr id="17" name="Connector 16"/>
          <p:cNvCxnSpPr/>
          <p:nvPr/>
        </p:nvCxnSpPr>
        <p:spPr>
          <a:xfrm>
            <a:off x="10168128" y="2350008"/>
            <a:ext cx="137160"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323576" y="1965960"/>
            <a:ext cx="1463040" cy="777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match</a:t>
            </a:r>
          </a:p>
        </p:txBody>
      </p:sp>
      <p:sp>
        <p:nvSpPr>
          <p:cNvPr id="19" name="Rounded Rectangle 18"/>
          <p:cNvSpPr/>
          <p:nvPr/>
        </p:nvSpPr>
        <p:spPr>
          <a:xfrm>
            <a:off x="3017520" y="3520440"/>
            <a:ext cx="2377440" cy="777240"/>
          </a:xfrm>
          <a:prstGeom prst="roundRect">
            <a:avLst/>
          </a:prstGeom>
          <a:solidFill>
            <a:srgbClr val="E7F5EC"/>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E5E3A"/>
                </a:solidFill>
                <a:latin typeface="Calibri"/>
              </a:rPr>
              <a:t>post journal</a:t>
            </a:r>
          </a:p>
        </p:txBody>
      </p:sp>
      <p:sp>
        <p:nvSpPr>
          <p:cNvPr id="20" name="Rounded Rectangle 19"/>
          <p:cNvSpPr/>
          <p:nvPr/>
        </p:nvSpPr>
        <p:spPr>
          <a:xfrm>
            <a:off x="6675120" y="3520440"/>
            <a:ext cx="2651760" cy="777240"/>
          </a:xfrm>
          <a:prstGeom prst="roundRect">
            <a:avLst/>
          </a:prstGeom>
          <a:solidFill>
            <a:srgbClr val="FDF3E4"/>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0B2545"/>
                </a:solidFill>
                <a:latin typeface="Calibri"/>
              </a:rPr>
              <a:t>raise exception</a:t>
            </a:r>
          </a:p>
          <a:p>
            <a:pPr algn="ctr"/>
            <a:r>
              <a:rPr sz="1200" b="1">
                <a:solidFill>
                  <a:srgbClr val="0B2545"/>
                </a:solidFill>
                <a:latin typeface="Calibri"/>
              </a:rPr>
              <a:t>(graph interrupts)</a:t>
            </a:r>
          </a:p>
        </p:txBody>
      </p:sp>
      <p:sp>
        <p:nvSpPr>
          <p:cNvPr id="21" name="Rounded Rectangle 20"/>
          <p:cNvSpPr/>
          <p:nvPr/>
        </p:nvSpPr>
        <p:spPr>
          <a:xfrm>
            <a:off x="6675120" y="4709160"/>
            <a:ext cx="2651760" cy="731520"/>
          </a:xfrm>
          <a:prstGeom prst="roundRect">
            <a:avLst/>
          </a:prstGeom>
          <a:solidFill>
            <a:srgbClr val="FFFFFF"/>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334455"/>
                </a:solidFill>
                <a:latin typeface="Calibri"/>
              </a:rPr>
              <a:t>human decision</a:t>
            </a:r>
          </a:p>
        </p:txBody>
      </p:sp>
      <p:cxnSp>
        <p:nvCxnSpPr>
          <p:cNvPr id="22" name="Connector 21"/>
          <p:cNvCxnSpPr/>
          <p:nvPr/>
        </p:nvCxnSpPr>
        <p:spPr>
          <a:xfrm flipH="1">
            <a:off x="4572000" y="2743200"/>
            <a:ext cx="5943600" cy="73152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863840" y="2743200"/>
            <a:ext cx="3017520" cy="731520"/>
          </a:xfrm>
          <a:prstGeom prst="bentConnector3">
            <a:avLst/>
          </a:prstGeom>
          <a:ln w="22225">
            <a:solidFill>
              <a:srgbClr val="E88B2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001000" y="4315968"/>
            <a:ext cx="0" cy="365760"/>
          </a:xfrm>
          <a:prstGeom prst="bentConnector3">
            <a:avLst/>
          </a:prstGeom>
          <a:ln w="22225">
            <a:solidFill>
              <a:srgbClr val="E88B2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4206240" y="4343400"/>
            <a:ext cx="2450592" cy="731520"/>
          </a:xfrm>
          <a:prstGeom prst="bentConnector3">
            <a:avLst/>
          </a:prstGeom>
          <a:ln w="22225">
            <a:solidFill>
              <a:srgbClr val="E88B2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703320" y="3127248"/>
            <a:ext cx="2743200" cy="274320"/>
          </a:xfrm>
          <a:prstGeom prst="rect">
            <a:avLst/>
          </a:prstGeom>
          <a:noFill/>
        </p:spPr>
        <p:txBody>
          <a:bodyPr wrap="square">
            <a:spAutoFit/>
          </a:bodyPr>
          <a:lstStyle/>
          <a:p>
            <a:pPr algn="l"/>
            <a:r>
              <a:rPr sz="1000" b="0">
                <a:solidFill>
                  <a:srgbClr val="6B7A8B"/>
                </a:solidFill>
                <a:latin typeface="Calibri"/>
              </a:rPr>
              <a:t>in tolerance,</a:t>
            </a:r>
          </a:p>
          <a:p>
            <a:pPr algn="l"/>
            <a:r>
              <a:rPr sz="1000" b="0">
                <a:solidFill>
                  <a:srgbClr val="6B7A8B"/>
                </a:solidFill>
                <a:latin typeface="Calibri"/>
              </a:rPr>
              <a:t>under ceiling</a:t>
            </a:r>
          </a:p>
        </p:txBody>
      </p:sp>
      <p:sp>
        <p:nvSpPr>
          <p:cNvPr id="27" name="TextBox 26"/>
          <p:cNvSpPr txBox="1"/>
          <p:nvPr/>
        </p:nvSpPr>
        <p:spPr>
          <a:xfrm>
            <a:off x="8366760" y="3127248"/>
            <a:ext cx="2926080" cy="274320"/>
          </a:xfrm>
          <a:prstGeom prst="rect">
            <a:avLst/>
          </a:prstGeom>
          <a:noFill/>
        </p:spPr>
        <p:txBody>
          <a:bodyPr wrap="square">
            <a:spAutoFit/>
          </a:bodyPr>
          <a:lstStyle/>
          <a:p>
            <a:pPr algn="l"/>
            <a:r>
              <a:rPr sz="1000" b="0">
                <a:solidFill>
                  <a:srgbClr val="6B7A8B"/>
                </a:solidFill>
                <a:latin typeface="Calibri"/>
              </a:rPr>
              <a:t>variance / duplicate /</a:t>
            </a:r>
          </a:p>
          <a:p>
            <a:pPr algn="l"/>
            <a:r>
              <a:rPr sz="1000" b="0">
                <a:solidFill>
                  <a:srgbClr val="6B7A8B"/>
                </a:solidFill>
                <a:latin typeface="Calibri"/>
              </a:rPr>
              <a:t>low confidence</a:t>
            </a:r>
          </a:p>
        </p:txBody>
      </p:sp>
      <p:sp>
        <p:nvSpPr>
          <p:cNvPr id="28" name="Rounded Rectangle 27"/>
          <p:cNvSpPr/>
          <p:nvPr/>
        </p:nvSpPr>
        <p:spPr>
          <a:xfrm>
            <a:off x="502920" y="5715000"/>
            <a:ext cx="11155680" cy="68580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0B2545"/>
                </a:solidFill>
                <a:latin typeface="Calibri"/>
              </a:rPr>
              <a:t>The interrupt persists full run state. The service can restart, redeploy, or wait three days for an approver, and the run resumes at exactly that node.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Document processing and extraction</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Docling for layout, a local model for fields, schema validation for trust</a:t>
            </a:r>
          </a:p>
        </p:txBody>
      </p:sp>
      <p:sp>
        <p:nvSpPr>
          <p:cNvPr id="6" name="Oval 5"/>
          <p:cNvSpPr/>
          <p:nvPr/>
        </p:nvSpPr>
        <p:spPr>
          <a:xfrm>
            <a:off x="640080" y="1773936"/>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664208"/>
            <a:ext cx="5431536" cy="658368"/>
          </a:xfrm>
          <a:prstGeom prst="rect">
            <a:avLst/>
          </a:prstGeom>
          <a:noFill/>
        </p:spPr>
        <p:txBody>
          <a:bodyPr wrap="square">
            <a:spAutoFit/>
          </a:bodyPr>
          <a:lstStyle/>
          <a:p>
            <a:pPr algn="l"/>
            <a:r>
              <a:rPr sz="1400" b="0">
                <a:solidFill>
                  <a:srgbClr val="334455"/>
                </a:solidFill>
                <a:latin typeface="Calibri"/>
              </a:rPr>
              <a:t>Docling converts PDF, image, HTML and Office documents to Markdown with OCR and table-structure recognition enabled.</a:t>
            </a:r>
          </a:p>
        </p:txBody>
      </p:sp>
      <p:sp>
        <p:nvSpPr>
          <p:cNvPr id="8" name="Oval 7"/>
          <p:cNvSpPr/>
          <p:nvPr/>
        </p:nvSpPr>
        <p:spPr>
          <a:xfrm>
            <a:off x="640080" y="2432304"/>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322576"/>
            <a:ext cx="5431536" cy="658368"/>
          </a:xfrm>
          <a:prstGeom prst="rect">
            <a:avLst/>
          </a:prstGeom>
          <a:noFill/>
        </p:spPr>
        <p:txBody>
          <a:bodyPr wrap="square">
            <a:spAutoFit/>
          </a:bodyPr>
          <a:lstStyle/>
          <a:p>
            <a:pPr algn="l"/>
            <a:r>
              <a:rPr sz="1400" b="0">
                <a:solidFill>
                  <a:srgbClr val="334455"/>
                </a:solidFill>
                <a:latin typeface="Calibri"/>
              </a:rPr>
              <a:t>Scanned invoices travel the same path as native PDFs, which matters because scans are the majority of real AP volume.</a:t>
            </a:r>
          </a:p>
        </p:txBody>
      </p:sp>
      <p:sp>
        <p:nvSpPr>
          <p:cNvPr id="10" name="Oval 9"/>
          <p:cNvSpPr/>
          <p:nvPr/>
        </p:nvSpPr>
        <p:spPr>
          <a:xfrm>
            <a:off x="640080" y="3090672"/>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980944"/>
            <a:ext cx="5431536" cy="658368"/>
          </a:xfrm>
          <a:prstGeom prst="rect">
            <a:avLst/>
          </a:prstGeom>
          <a:noFill/>
        </p:spPr>
        <p:txBody>
          <a:bodyPr wrap="square">
            <a:spAutoFit/>
          </a:bodyPr>
          <a:lstStyle/>
          <a:p>
            <a:pPr algn="l"/>
            <a:r>
              <a:rPr sz="1400" b="0">
                <a:solidFill>
                  <a:srgbClr val="334455"/>
                </a:solidFill>
                <a:latin typeface="Calibri"/>
              </a:rPr>
              <a:t>A PyMuPDF text-layer fallback keeps the pipeline alive if Docling cannot handle a file.</a:t>
            </a:r>
          </a:p>
        </p:txBody>
      </p:sp>
      <p:sp>
        <p:nvSpPr>
          <p:cNvPr id="12" name="Oval 11"/>
          <p:cNvSpPr/>
          <p:nvPr/>
        </p:nvSpPr>
        <p:spPr>
          <a:xfrm>
            <a:off x="640080" y="3749039"/>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3639312"/>
            <a:ext cx="5431536" cy="658368"/>
          </a:xfrm>
          <a:prstGeom prst="rect">
            <a:avLst/>
          </a:prstGeom>
          <a:noFill/>
        </p:spPr>
        <p:txBody>
          <a:bodyPr wrap="square">
            <a:spAutoFit/>
          </a:bodyPr>
          <a:lstStyle/>
          <a:p>
            <a:pPr algn="l"/>
            <a:r>
              <a:rPr sz="1400" b="0">
                <a:solidFill>
                  <a:srgbClr val="334455"/>
                </a:solidFill>
                <a:latin typeface="Calibri"/>
              </a:rPr>
              <a:t>The model fills a strict Pydantic schema. A malformed response is repaired and retried rather than accepted.</a:t>
            </a:r>
          </a:p>
        </p:txBody>
      </p:sp>
      <p:sp>
        <p:nvSpPr>
          <p:cNvPr id="14" name="Oval 13"/>
          <p:cNvSpPr/>
          <p:nvPr/>
        </p:nvSpPr>
        <p:spPr>
          <a:xfrm>
            <a:off x="640080" y="4407408"/>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4297680"/>
            <a:ext cx="5431536" cy="658368"/>
          </a:xfrm>
          <a:prstGeom prst="rect">
            <a:avLst/>
          </a:prstGeom>
          <a:noFill/>
        </p:spPr>
        <p:txBody>
          <a:bodyPr wrap="square">
            <a:spAutoFit/>
          </a:bodyPr>
          <a:lstStyle/>
          <a:p>
            <a:pPr algn="l"/>
            <a:r>
              <a:rPr sz="1400" b="0">
                <a:solidFill>
                  <a:srgbClr val="334455"/>
                </a:solidFill>
                <a:latin typeface="Calibri"/>
              </a:rPr>
              <a:t>Every field carries its own confidence; the aggregate gates straight-through posting.</a:t>
            </a:r>
          </a:p>
        </p:txBody>
      </p:sp>
      <p:sp>
        <p:nvSpPr>
          <p:cNvPr id="16" name="Rounded Rectangle 15"/>
          <p:cNvSpPr/>
          <p:nvPr/>
        </p:nvSpPr>
        <p:spPr>
          <a:xfrm>
            <a:off x="6675120" y="1691640"/>
            <a:ext cx="4937760" cy="457200"/>
          </a:xfrm>
          <a:prstGeom prst="roundRect">
            <a:avLst/>
          </a:prstGeom>
          <a:solidFill>
            <a:srgbClr val="0B2545"/>
          </a:solidFill>
          <a:ln w="1270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Extracted contract</a:t>
            </a:r>
          </a:p>
        </p:txBody>
      </p:sp>
      <p:sp>
        <p:nvSpPr>
          <p:cNvPr id="17" name="Rounded Rectangle 16"/>
          <p:cNvSpPr/>
          <p:nvPr/>
        </p:nvSpPr>
        <p:spPr>
          <a:xfrm>
            <a:off x="6675120" y="2240280"/>
            <a:ext cx="4937760" cy="38404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invoice_number, invoice_date, due_date</a:t>
            </a:r>
          </a:p>
        </p:txBody>
      </p:sp>
      <p:sp>
        <p:nvSpPr>
          <p:cNvPr id="18" name="Rounded Rectangle 17"/>
          <p:cNvSpPr/>
          <p:nvPr/>
        </p:nvSpPr>
        <p:spPr>
          <a:xfrm>
            <a:off x="6675120" y="2706624"/>
            <a:ext cx="4937760" cy="38404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purchase_order_number</a:t>
            </a:r>
          </a:p>
        </p:txBody>
      </p:sp>
      <p:sp>
        <p:nvSpPr>
          <p:cNvPr id="19" name="Rounded Rectangle 18"/>
          <p:cNvSpPr/>
          <p:nvPr/>
        </p:nvSpPr>
        <p:spPr>
          <a:xfrm>
            <a:off x="6675120" y="3172968"/>
            <a:ext cx="4937760" cy="38404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vendor_name, vendor_tax_id, vendor_iban</a:t>
            </a:r>
          </a:p>
        </p:txBody>
      </p:sp>
      <p:sp>
        <p:nvSpPr>
          <p:cNvPr id="20" name="Rounded Rectangle 19"/>
          <p:cNvSpPr/>
          <p:nvPr/>
        </p:nvSpPr>
        <p:spPr>
          <a:xfrm>
            <a:off x="6675120" y="3639311"/>
            <a:ext cx="4937760" cy="38404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currency, subtotal, tax_amount, total_amount</a:t>
            </a:r>
          </a:p>
        </p:txBody>
      </p:sp>
      <p:sp>
        <p:nvSpPr>
          <p:cNvPr id="21" name="Rounded Rectangle 20"/>
          <p:cNvSpPr/>
          <p:nvPr/>
        </p:nvSpPr>
        <p:spPr>
          <a:xfrm>
            <a:off x="6675120" y="4105655"/>
            <a:ext cx="4937760" cy="38404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payment_terms</a:t>
            </a:r>
          </a:p>
        </p:txBody>
      </p:sp>
      <p:sp>
        <p:nvSpPr>
          <p:cNvPr id="22" name="Rounded Rectangle 21"/>
          <p:cNvSpPr/>
          <p:nvPr/>
        </p:nvSpPr>
        <p:spPr>
          <a:xfrm>
            <a:off x="6675120" y="4571999"/>
            <a:ext cx="4937760" cy="56692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line_items[]: description, material_code,</a:t>
            </a:r>
          </a:p>
          <a:p>
            <a:pPr algn="ctr"/>
            <a:r>
              <a:rPr sz="1100" b="0">
                <a:solidFill>
                  <a:srgbClr val="334455"/>
                </a:solidFill>
                <a:latin typeface="Calibri"/>
              </a:rPr>
              <a:t>quantity, unit_price, line_total</a:t>
            </a:r>
          </a:p>
        </p:txBody>
      </p:sp>
      <p:sp>
        <p:nvSpPr>
          <p:cNvPr id="23" name="Rounded Rectangle 22"/>
          <p:cNvSpPr/>
          <p:nvPr/>
        </p:nvSpPr>
        <p:spPr>
          <a:xfrm>
            <a:off x="6675120" y="5221223"/>
            <a:ext cx="4937760" cy="38404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334455"/>
                </a:solidFill>
                <a:latin typeface="Calibri"/>
              </a:rPr>
              <a:t>confidence, field_confidence{}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The matching engine</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The model extracts; deterministic code decides whether money moves</a:t>
            </a:r>
          </a:p>
        </p:txBody>
      </p:sp>
      <p:sp>
        <p:nvSpPr>
          <p:cNvPr id="6" name="Rounded Rectangle 5"/>
          <p:cNvSpPr/>
          <p:nvPr/>
        </p:nvSpPr>
        <p:spPr>
          <a:xfrm>
            <a:off x="502920" y="1691640"/>
            <a:ext cx="6492240" cy="384048"/>
          </a:xfrm>
          <a:prstGeom prst="roundRect">
            <a:avLst/>
          </a:prstGeom>
          <a:solidFill>
            <a:srgbClr val="0B2545"/>
          </a:solidFill>
          <a:ln w="1270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7" name="TextBox 6"/>
          <p:cNvSpPr txBox="1"/>
          <p:nvPr/>
        </p:nvSpPr>
        <p:spPr>
          <a:xfrm>
            <a:off x="640080" y="1728216"/>
            <a:ext cx="2743200" cy="310896"/>
          </a:xfrm>
          <a:prstGeom prst="rect">
            <a:avLst/>
          </a:prstGeom>
          <a:noFill/>
        </p:spPr>
        <p:txBody>
          <a:bodyPr wrap="square">
            <a:spAutoFit/>
          </a:bodyPr>
          <a:lstStyle/>
          <a:p>
            <a:pPr algn="l"/>
            <a:r>
              <a:rPr sz="1100" b="1">
                <a:solidFill>
                  <a:srgbClr val="FFFFFF"/>
                </a:solidFill>
                <a:latin typeface="Calibri"/>
              </a:rPr>
              <a:t>RULE</a:t>
            </a:r>
          </a:p>
        </p:txBody>
      </p:sp>
      <p:sp>
        <p:nvSpPr>
          <p:cNvPr id="8" name="TextBox 7"/>
          <p:cNvSpPr txBox="1"/>
          <p:nvPr/>
        </p:nvSpPr>
        <p:spPr>
          <a:xfrm>
            <a:off x="3566160" y="1728216"/>
            <a:ext cx="1463040" cy="310896"/>
          </a:xfrm>
          <a:prstGeom prst="rect">
            <a:avLst/>
          </a:prstGeom>
          <a:noFill/>
        </p:spPr>
        <p:txBody>
          <a:bodyPr wrap="square">
            <a:spAutoFit/>
          </a:bodyPr>
          <a:lstStyle/>
          <a:p>
            <a:pPr algn="l"/>
            <a:r>
              <a:rPr sz="1100" b="1">
                <a:solidFill>
                  <a:srgbClr val="FFFFFF"/>
                </a:solidFill>
                <a:latin typeface="Calibri"/>
              </a:rPr>
              <a:t>DEFAULT</a:t>
            </a:r>
          </a:p>
        </p:txBody>
      </p:sp>
      <p:sp>
        <p:nvSpPr>
          <p:cNvPr id="9" name="TextBox 8"/>
          <p:cNvSpPr txBox="1"/>
          <p:nvPr/>
        </p:nvSpPr>
        <p:spPr>
          <a:xfrm>
            <a:off x="5120640" y="1728216"/>
            <a:ext cx="1828800" cy="310896"/>
          </a:xfrm>
          <a:prstGeom prst="rect">
            <a:avLst/>
          </a:prstGeom>
          <a:noFill/>
        </p:spPr>
        <p:txBody>
          <a:bodyPr wrap="square">
            <a:spAutoFit/>
          </a:bodyPr>
          <a:lstStyle/>
          <a:p>
            <a:pPr algn="l"/>
            <a:r>
              <a:rPr sz="1100" b="1">
                <a:solidFill>
                  <a:srgbClr val="FFFFFF"/>
                </a:solidFill>
                <a:latin typeface="Calibri"/>
              </a:rPr>
              <a:t>APPLIED TO</a:t>
            </a:r>
          </a:p>
        </p:txBody>
      </p:sp>
      <p:sp>
        <p:nvSpPr>
          <p:cNvPr id="10" name="Rectangle 9"/>
          <p:cNvSpPr/>
          <p:nvPr/>
        </p:nvSpPr>
        <p:spPr>
          <a:xfrm>
            <a:off x="502920" y="2121408"/>
            <a:ext cx="6492240" cy="402336"/>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1" name="TextBox 10"/>
          <p:cNvSpPr txBox="1"/>
          <p:nvPr/>
        </p:nvSpPr>
        <p:spPr>
          <a:xfrm>
            <a:off x="640080" y="2176272"/>
            <a:ext cx="2834640" cy="310896"/>
          </a:xfrm>
          <a:prstGeom prst="rect">
            <a:avLst/>
          </a:prstGeom>
          <a:noFill/>
        </p:spPr>
        <p:txBody>
          <a:bodyPr wrap="square">
            <a:spAutoFit/>
          </a:bodyPr>
          <a:lstStyle/>
          <a:p>
            <a:pPr algn="l"/>
            <a:r>
              <a:rPr sz="1100" b="0">
                <a:solidFill>
                  <a:srgbClr val="334455"/>
                </a:solidFill>
                <a:latin typeface="Calibri"/>
              </a:rPr>
              <a:t>Unit price</a:t>
            </a:r>
          </a:p>
        </p:txBody>
      </p:sp>
      <p:sp>
        <p:nvSpPr>
          <p:cNvPr id="12" name="TextBox 11"/>
          <p:cNvSpPr txBox="1"/>
          <p:nvPr/>
        </p:nvSpPr>
        <p:spPr>
          <a:xfrm>
            <a:off x="3566160" y="2176272"/>
            <a:ext cx="1463040" cy="310896"/>
          </a:xfrm>
          <a:prstGeom prst="rect">
            <a:avLst/>
          </a:prstGeom>
          <a:noFill/>
        </p:spPr>
        <p:txBody>
          <a:bodyPr wrap="square">
            <a:spAutoFit/>
          </a:bodyPr>
          <a:lstStyle/>
          <a:p>
            <a:pPr algn="l"/>
            <a:r>
              <a:rPr sz="1100" b="1">
                <a:solidFill>
                  <a:srgbClr val="00A19A"/>
                </a:solidFill>
                <a:latin typeface="Calibri"/>
              </a:rPr>
              <a:t>2%</a:t>
            </a:r>
          </a:p>
        </p:txBody>
      </p:sp>
      <p:sp>
        <p:nvSpPr>
          <p:cNvPr id="13" name="TextBox 12"/>
          <p:cNvSpPr txBox="1"/>
          <p:nvPr/>
        </p:nvSpPr>
        <p:spPr>
          <a:xfrm>
            <a:off x="5120640" y="2176272"/>
            <a:ext cx="1828800" cy="310896"/>
          </a:xfrm>
          <a:prstGeom prst="rect">
            <a:avLst/>
          </a:prstGeom>
          <a:noFill/>
        </p:spPr>
        <p:txBody>
          <a:bodyPr wrap="square">
            <a:spAutoFit/>
          </a:bodyPr>
          <a:lstStyle/>
          <a:p>
            <a:pPr algn="l"/>
            <a:r>
              <a:rPr sz="1000" b="0">
                <a:solidFill>
                  <a:srgbClr val="6B7A8B"/>
                </a:solidFill>
                <a:latin typeface="Calibri"/>
              </a:rPr>
              <a:t>percentage on the unit price</a:t>
            </a:r>
          </a:p>
        </p:txBody>
      </p:sp>
      <p:sp>
        <p:nvSpPr>
          <p:cNvPr id="14" name="Rectangle 13"/>
          <p:cNvSpPr/>
          <p:nvPr/>
        </p:nvSpPr>
        <p:spPr>
          <a:xfrm>
            <a:off x="502920" y="2523744"/>
            <a:ext cx="6492240" cy="402336"/>
          </a:xfrm>
          <a:prstGeom prst="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5" name="TextBox 14"/>
          <p:cNvSpPr txBox="1"/>
          <p:nvPr/>
        </p:nvSpPr>
        <p:spPr>
          <a:xfrm>
            <a:off x="640080" y="2578608"/>
            <a:ext cx="2834640" cy="310896"/>
          </a:xfrm>
          <a:prstGeom prst="rect">
            <a:avLst/>
          </a:prstGeom>
          <a:noFill/>
        </p:spPr>
        <p:txBody>
          <a:bodyPr wrap="square">
            <a:spAutoFit/>
          </a:bodyPr>
          <a:lstStyle/>
          <a:p>
            <a:pPr algn="l"/>
            <a:r>
              <a:rPr sz="1100" b="0">
                <a:solidFill>
                  <a:srgbClr val="334455"/>
                </a:solidFill>
                <a:latin typeface="Calibri"/>
              </a:rPr>
              <a:t>Unit price, absolute</a:t>
            </a:r>
          </a:p>
        </p:txBody>
      </p:sp>
      <p:sp>
        <p:nvSpPr>
          <p:cNvPr id="16" name="TextBox 15"/>
          <p:cNvSpPr txBox="1"/>
          <p:nvPr/>
        </p:nvSpPr>
        <p:spPr>
          <a:xfrm>
            <a:off x="3566160" y="2578608"/>
            <a:ext cx="1463040" cy="310896"/>
          </a:xfrm>
          <a:prstGeom prst="rect">
            <a:avLst/>
          </a:prstGeom>
          <a:noFill/>
        </p:spPr>
        <p:txBody>
          <a:bodyPr wrap="square">
            <a:spAutoFit/>
          </a:bodyPr>
          <a:lstStyle/>
          <a:p>
            <a:pPr algn="l"/>
            <a:r>
              <a:rPr sz="1100" b="1">
                <a:solidFill>
                  <a:srgbClr val="00A19A"/>
                </a:solidFill>
                <a:latin typeface="Calibri"/>
              </a:rPr>
              <a:t>5.00</a:t>
            </a:r>
          </a:p>
        </p:txBody>
      </p:sp>
      <p:sp>
        <p:nvSpPr>
          <p:cNvPr id="17" name="TextBox 16"/>
          <p:cNvSpPr txBox="1"/>
          <p:nvPr/>
        </p:nvSpPr>
        <p:spPr>
          <a:xfrm>
            <a:off x="5120640" y="2578608"/>
            <a:ext cx="1828800" cy="310896"/>
          </a:xfrm>
          <a:prstGeom prst="rect">
            <a:avLst/>
          </a:prstGeom>
          <a:noFill/>
        </p:spPr>
        <p:txBody>
          <a:bodyPr wrap="square">
            <a:spAutoFit/>
          </a:bodyPr>
          <a:lstStyle/>
          <a:p>
            <a:pPr algn="l"/>
            <a:r>
              <a:rPr sz="1000" b="0">
                <a:solidFill>
                  <a:srgbClr val="6B7A8B"/>
                </a:solidFill>
                <a:latin typeface="Calibri"/>
              </a:rPr>
              <a:t>on the extended line value</a:t>
            </a:r>
          </a:p>
        </p:txBody>
      </p:sp>
      <p:sp>
        <p:nvSpPr>
          <p:cNvPr id="18" name="Rectangle 17"/>
          <p:cNvSpPr/>
          <p:nvPr/>
        </p:nvSpPr>
        <p:spPr>
          <a:xfrm>
            <a:off x="502920" y="2926079"/>
            <a:ext cx="6492240" cy="402336"/>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9" name="TextBox 18"/>
          <p:cNvSpPr txBox="1"/>
          <p:nvPr/>
        </p:nvSpPr>
        <p:spPr>
          <a:xfrm>
            <a:off x="640080" y="2980944"/>
            <a:ext cx="2834640" cy="310896"/>
          </a:xfrm>
          <a:prstGeom prst="rect">
            <a:avLst/>
          </a:prstGeom>
          <a:noFill/>
        </p:spPr>
        <p:txBody>
          <a:bodyPr wrap="square">
            <a:spAutoFit/>
          </a:bodyPr>
          <a:lstStyle/>
          <a:p>
            <a:pPr algn="l"/>
            <a:r>
              <a:rPr sz="1100" b="0">
                <a:solidFill>
                  <a:srgbClr val="334455"/>
                </a:solidFill>
                <a:latin typeface="Calibri"/>
              </a:rPr>
              <a:t>Quantity</a:t>
            </a:r>
          </a:p>
        </p:txBody>
      </p:sp>
      <p:sp>
        <p:nvSpPr>
          <p:cNvPr id="20" name="TextBox 19"/>
          <p:cNvSpPr txBox="1"/>
          <p:nvPr/>
        </p:nvSpPr>
        <p:spPr>
          <a:xfrm>
            <a:off x="3566160" y="2980944"/>
            <a:ext cx="1463040" cy="310896"/>
          </a:xfrm>
          <a:prstGeom prst="rect">
            <a:avLst/>
          </a:prstGeom>
          <a:noFill/>
        </p:spPr>
        <p:txBody>
          <a:bodyPr wrap="square">
            <a:spAutoFit/>
          </a:bodyPr>
          <a:lstStyle/>
          <a:p>
            <a:pPr algn="l"/>
            <a:r>
              <a:rPr sz="1100" b="1">
                <a:solidFill>
                  <a:srgbClr val="00A19A"/>
                </a:solidFill>
                <a:latin typeface="Calibri"/>
              </a:rPr>
              <a:t>exact</a:t>
            </a:r>
          </a:p>
        </p:txBody>
      </p:sp>
      <p:sp>
        <p:nvSpPr>
          <p:cNvPr id="21" name="TextBox 20"/>
          <p:cNvSpPr txBox="1"/>
          <p:nvPr/>
        </p:nvSpPr>
        <p:spPr>
          <a:xfrm>
            <a:off x="5120640" y="2980944"/>
            <a:ext cx="1828800" cy="310896"/>
          </a:xfrm>
          <a:prstGeom prst="rect">
            <a:avLst/>
          </a:prstGeom>
          <a:noFill/>
        </p:spPr>
        <p:txBody>
          <a:bodyPr wrap="square">
            <a:spAutoFit/>
          </a:bodyPr>
          <a:lstStyle/>
          <a:p>
            <a:pPr algn="l"/>
            <a:r>
              <a:rPr sz="1000" b="0">
                <a:solidFill>
                  <a:srgbClr val="6B7A8B"/>
                </a:solidFill>
                <a:latin typeface="Calibri"/>
              </a:rPr>
              <a:t>no tolerance for goods</a:t>
            </a:r>
          </a:p>
        </p:txBody>
      </p:sp>
      <p:sp>
        <p:nvSpPr>
          <p:cNvPr id="22" name="Rectangle 21"/>
          <p:cNvSpPr/>
          <p:nvPr/>
        </p:nvSpPr>
        <p:spPr>
          <a:xfrm>
            <a:off x="502920" y="3328415"/>
            <a:ext cx="6492240" cy="402336"/>
          </a:xfrm>
          <a:prstGeom prst="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3" name="TextBox 22"/>
          <p:cNvSpPr txBox="1"/>
          <p:nvPr/>
        </p:nvSpPr>
        <p:spPr>
          <a:xfrm>
            <a:off x="640080" y="3383279"/>
            <a:ext cx="2834640" cy="310896"/>
          </a:xfrm>
          <a:prstGeom prst="rect">
            <a:avLst/>
          </a:prstGeom>
          <a:noFill/>
        </p:spPr>
        <p:txBody>
          <a:bodyPr wrap="square">
            <a:spAutoFit/>
          </a:bodyPr>
          <a:lstStyle/>
          <a:p>
            <a:pPr algn="l"/>
            <a:r>
              <a:rPr sz="1100" b="0">
                <a:solidFill>
                  <a:srgbClr val="334455"/>
                </a:solidFill>
                <a:latin typeface="Calibri"/>
              </a:rPr>
              <a:t>Invoice gross total</a:t>
            </a:r>
          </a:p>
        </p:txBody>
      </p:sp>
      <p:sp>
        <p:nvSpPr>
          <p:cNvPr id="24" name="TextBox 23"/>
          <p:cNvSpPr txBox="1"/>
          <p:nvPr/>
        </p:nvSpPr>
        <p:spPr>
          <a:xfrm>
            <a:off x="3566160" y="3383279"/>
            <a:ext cx="1463040" cy="310896"/>
          </a:xfrm>
          <a:prstGeom prst="rect">
            <a:avLst/>
          </a:prstGeom>
          <a:noFill/>
        </p:spPr>
        <p:txBody>
          <a:bodyPr wrap="square">
            <a:spAutoFit/>
          </a:bodyPr>
          <a:lstStyle/>
          <a:p>
            <a:pPr algn="l"/>
            <a:r>
              <a:rPr sz="1100" b="1">
                <a:solidFill>
                  <a:srgbClr val="00A19A"/>
                </a:solidFill>
                <a:latin typeface="Calibri"/>
              </a:rPr>
              <a:t>1% or 10.00</a:t>
            </a:r>
          </a:p>
        </p:txBody>
      </p:sp>
      <p:sp>
        <p:nvSpPr>
          <p:cNvPr id="25" name="TextBox 24"/>
          <p:cNvSpPr txBox="1"/>
          <p:nvPr/>
        </p:nvSpPr>
        <p:spPr>
          <a:xfrm>
            <a:off x="5120640" y="3383279"/>
            <a:ext cx="1828800" cy="310896"/>
          </a:xfrm>
          <a:prstGeom prst="rect">
            <a:avLst/>
          </a:prstGeom>
          <a:noFill/>
        </p:spPr>
        <p:txBody>
          <a:bodyPr wrap="square">
            <a:spAutoFit/>
          </a:bodyPr>
          <a:lstStyle/>
          <a:p>
            <a:pPr algn="l"/>
            <a:r>
              <a:rPr sz="1000" b="0">
                <a:solidFill>
                  <a:srgbClr val="6B7A8B"/>
                </a:solidFill>
                <a:latin typeface="Calibri"/>
              </a:rPr>
              <a:t>whichever the variance satisfies</a:t>
            </a:r>
          </a:p>
        </p:txBody>
      </p:sp>
      <p:sp>
        <p:nvSpPr>
          <p:cNvPr id="26" name="Rectangle 25"/>
          <p:cNvSpPr/>
          <p:nvPr/>
        </p:nvSpPr>
        <p:spPr>
          <a:xfrm>
            <a:off x="502920" y="3730752"/>
            <a:ext cx="6492240" cy="402336"/>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7" name="TextBox 26"/>
          <p:cNvSpPr txBox="1"/>
          <p:nvPr/>
        </p:nvSpPr>
        <p:spPr>
          <a:xfrm>
            <a:off x="640080" y="3785615"/>
            <a:ext cx="2834640" cy="310896"/>
          </a:xfrm>
          <a:prstGeom prst="rect">
            <a:avLst/>
          </a:prstGeom>
          <a:noFill/>
        </p:spPr>
        <p:txBody>
          <a:bodyPr wrap="square">
            <a:spAutoFit/>
          </a:bodyPr>
          <a:lstStyle/>
          <a:p>
            <a:pPr algn="l"/>
            <a:r>
              <a:rPr sz="1100" b="0">
                <a:solidFill>
                  <a:srgbClr val="334455"/>
                </a:solidFill>
                <a:latin typeface="Calibri"/>
              </a:rPr>
              <a:t>Tax</a:t>
            </a:r>
          </a:p>
        </p:txBody>
      </p:sp>
      <p:sp>
        <p:nvSpPr>
          <p:cNvPr id="28" name="TextBox 27"/>
          <p:cNvSpPr txBox="1"/>
          <p:nvPr/>
        </p:nvSpPr>
        <p:spPr>
          <a:xfrm>
            <a:off x="3566160" y="3785615"/>
            <a:ext cx="1463040" cy="310896"/>
          </a:xfrm>
          <a:prstGeom prst="rect">
            <a:avLst/>
          </a:prstGeom>
          <a:noFill/>
        </p:spPr>
        <p:txBody>
          <a:bodyPr wrap="square">
            <a:spAutoFit/>
          </a:bodyPr>
          <a:lstStyle/>
          <a:p>
            <a:pPr algn="l"/>
            <a:r>
              <a:rPr sz="1100" b="1">
                <a:solidFill>
                  <a:srgbClr val="00A19A"/>
                </a:solidFill>
                <a:latin typeface="Calibri"/>
              </a:rPr>
              <a:t>1.00</a:t>
            </a:r>
          </a:p>
        </p:txBody>
      </p:sp>
      <p:sp>
        <p:nvSpPr>
          <p:cNvPr id="29" name="TextBox 28"/>
          <p:cNvSpPr txBox="1"/>
          <p:nvPr/>
        </p:nvSpPr>
        <p:spPr>
          <a:xfrm>
            <a:off x="5120640" y="3785615"/>
            <a:ext cx="1828800" cy="310896"/>
          </a:xfrm>
          <a:prstGeom prst="rect">
            <a:avLst/>
          </a:prstGeom>
          <a:noFill/>
        </p:spPr>
        <p:txBody>
          <a:bodyPr wrap="square">
            <a:spAutoFit/>
          </a:bodyPr>
          <a:lstStyle/>
          <a:p>
            <a:pPr algn="l"/>
            <a:r>
              <a:rPr sz="1000" b="0">
                <a:solidFill>
                  <a:srgbClr val="6B7A8B"/>
                </a:solidFill>
                <a:latin typeface="Calibri"/>
              </a:rPr>
              <a:t>absorbs rounding</a:t>
            </a:r>
          </a:p>
        </p:txBody>
      </p:sp>
      <p:sp>
        <p:nvSpPr>
          <p:cNvPr id="30" name="Rectangle 29"/>
          <p:cNvSpPr/>
          <p:nvPr/>
        </p:nvSpPr>
        <p:spPr>
          <a:xfrm>
            <a:off x="502920" y="4133087"/>
            <a:ext cx="6492240" cy="402336"/>
          </a:xfrm>
          <a:prstGeom prst="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1" name="TextBox 30"/>
          <p:cNvSpPr txBox="1"/>
          <p:nvPr/>
        </p:nvSpPr>
        <p:spPr>
          <a:xfrm>
            <a:off x="640080" y="4187951"/>
            <a:ext cx="2834640" cy="310896"/>
          </a:xfrm>
          <a:prstGeom prst="rect">
            <a:avLst/>
          </a:prstGeom>
          <a:noFill/>
        </p:spPr>
        <p:txBody>
          <a:bodyPr wrap="square">
            <a:spAutoFit/>
          </a:bodyPr>
          <a:lstStyle/>
          <a:p>
            <a:pPr algn="l"/>
            <a:r>
              <a:rPr sz="1100" b="0">
                <a:solidFill>
                  <a:srgbClr val="334455"/>
                </a:solidFill>
                <a:latin typeface="Calibri"/>
              </a:rPr>
              <a:t>Auto-post ceiling</a:t>
            </a:r>
          </a:p>
        </p:txBody>
      </p:sp>
      <p:sp>
        <p:nvSpPr>
          <p:cNvPr id="32" name="TextBox 31"/>
          <p:cNvSpPr txBox="1"/>
          <p:nvPr/>
        </p:nvSpPr>
        <p:spPr>
          <a:xfrm>
            <a:off x="3566160" y="4187951"/>
            <a:ext cx="1463040" cy="310896"/>
          </a:xfrm>
          <a:prstGeom prst="rect">
            <a:avLst/>
          </a:prstGeom>
          <a:noFill/>
        </p:spPr>
        <p:txBody>
          <a:bodyPr wrap="square">
            <a:spAutoFit/>
          </a:bodyPr>
          <a:lstStyle/>
          <a:p>
            <a:pPr algn="l"/>
            <a:r>
              <a:rPr sz="1100" b="1">
                <a:solidFill>
                  <a:srgbClr val="00A19A"/>
                </a:solidFill>
                <a:latin typeface="Calibri"/>
              </a:rPr>
              <a:t>25,000.00</a:t>
            </a:r>
          </a:p>
        </p:txBody>
      </p:sp>
      <p:sp>
        <p:nvSpPr>
          <p:cNvPr id="33" name="TextBox 32"/>
          <p:cNvSpPr txBox="1"/>
          <p:nvPr/>
        </p:nvSpPr>
        <p:spPr>
          <a:xfrm>
            <a:off x="5120640" y="4187951"/>
            <a:ext cx="1828800" cy="310896"/>
          </a:xfrm>
          <a:prstGeom prst="rect">
            <a:avLst/>
          </a:prstGeom>
          <a:noFill/>
        </p:spPr>
        <p:txBody>
          <a:bodyPr wrap="square">
            <a:spAutoFit/>
          </a:bodyPr>
          <a:lstStyle/>
          <a:p>
            <a:pPr algn="l"/>
            <a:r>
              <a:rPr sz="1000" b="0">
                <a:solidFill>
                  <a:srgbClr val="6B7A8B"/>
                </a:solidFill>
                <a:latin typeface="Calibri"/>
              </a:rPr>
              <a:t>segregation of duties</a:t>
            </a:r>
          </a:p>
        </p:txBody>
      </p:sp>
      <p:sp>
        <p:nvSpPr>
          <p:cNvPr id="34" name="Rectangle 33"/>
          <p:cNvSpPr/>
          <p:nvPr/>
        </p:nvSpPr>
        <p:spPr>
          <a:xfrm>
            <a:off x="502920" y="4535424"/>
            <a:ext cx="6492240" cy="402336"/>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5" name="TextBox 34"/>
          <p:cNvSpPr txBox="1"/>
          <p:nvPr/>
        </p:nvSpPr>
        <p:spPr>
          <a:xfrm>
            <a:off x="640080" y="4590288"/>
            <a:ext cx="2834640" cy="310896"/>
          </a:xfrm>
          <a:prstGeom prst="rect">
            <a:avLst/>
          </a:prstGeom>
          <a:noFill/>
        </p:spPr>
        <p:txBody>
          <a:bodyPr wrap="square">
            <a:spAutoFit/>
          </a:bodyPr>
          <a:lstStyle/>
          <a:p>
            <a:pPr algn="l"/>
            <a:r>
              <a:rPr sz="1100" b="0">
                <a:solidFill>
                  <a:srgbClr val="334455"/>
                </a:solidFill>
                <a:latin typeface="Calibri"/>
              </a:rPr>
              <a:t>Min extraction confidence</a:t>
            </a:r>
          </a:p>
        </p:txBody>
      </p:sp>
      <p:sp>
        <p:nvSpPr>
          <p:cNvPr id="36" name="TextBox 35"/>
          <p:cNvSpPr txBox="1"/>
          <p:nvPr/>
        </p:nvSpPr>
        <p:spPr>
          <a:xfrm>
            <a:off x="3566160" y="4590288"/>
            <a:ext cx="1463040" cy="310896"/>
          </a:xfrm>
          <a:prstGeom prst="rect">
            <a:avLst/>
          </a:prstGeom>
          <a:noFill/>
        </p:spPr>
        <p:txBody>
          <a:bodyPr wrap="square">
            <a:spAutoFit/>
          </a:bodyPr>
          <a:lstStyle/>
          <a:p>
            <a:pPr algn="l"/>
            <a:r>
              <a:rPr sz="1100" b="1">
                <a:solidFill>
                  <a:srgbClr val="00A19A"/>
                </a:solidFill>
                <a:latin typeface="Calibri"/>
              </a:rPr>
              <a:t>0.75</a:t>
            </a:r>
          </a:p>
        </p:txBody>
      </p:sp>
      <p:sp>
        <p:nvSpPr>
          <p:cNvPr id="37" name="TextBox 36"/>
          <p:cNvSpPr txBox="1"/>
          <p:nvPr/>
        </p:nvSpPr>
        <p:spPr>
          <a:xfrm>
            <a:off x="5120640" y="4590288"/>
            <a:ext cx="1828800" cy="310896"/>
          </a:xfrm>
          <a:prstGeom prst="rect">
            <a:avLst/>
          </a:prstGeom>
          <a:noFill/>
        </p:spPr>
        <p:txBody>
          <a:bodyPr wrap="square">
            <a:spAutoFit/>
          </a:bodyPr>
          <a:lstStyle/>
          <a:p>
            <a:pPr algn="l"/>
            <a:r>
              <a:rPr sz="1000" b="0">
                <a:solidFill>
                  <a:srgbClr val="6B7A8B"/>
                </a:solidFill>
                <a:latin typeface="Calibri"/>
              </a:rPr>
              <a:t>below this, a human looks</a:t>
            </a:r>
          </a:p>
        </p:txBody>
      </p:sp>
      <p:sp>
        <p:nvSpPr>
          <p:cNvPr id="38" name="Rectangle 37"/>
          <p:cNvSpPr/>
          <p:nvPr/>
        </p:nvSpPr>
        <p:spPr>
          <a:xfrm>
            <a:off x="502920" y="4937760"/>
            <a:ext cx="6492240" cy="402336"/>
          </a:xfrm>
          <a:prstGeom prst="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9" name="TextBox 38"/>
          <p:cNvSpPr txBox="1"/>
          <p:nvPr/>
        </p:nvSpPr>
        <p:spPr>
          <a:xfrm>
            <a:off x="640080" y="4992624"/>
            <a:ext cx="2834640" cy="310896"/>
          </a:xfrm>
          <a:prstGeom prst="rect">
            <a:avLst/>
          </a:prstGeom>
          <a:noFill/>
        </p:spPr>
        <p:txBody>
          <a:bodyPr wrap="square">
            <a:spAutoFit/>
          </a:bodyPr>
          <a:lstStyle/>
          <a:p>
            <a:pPr algn="l"/>
            <a:r>
              <a:rPr sz="1100" b="0">
                <a:solidFill>
                  <a:srgbClr val="334455"/>
                </a:solidFill>
                <a:latin typeface="Calibri"/>
              </a:rPr>
              <a:t>Vendor name similarity</a:t>
            </a:r>
          </a:p>
        </p:txBody>
      </p:sp>
      <p:sp>
        <p:nvSpPr>
          <p:cNvPr id="40" name="TextBox 39"/>
          <p:cNvSpPr txBox="1"/>
          <p:nvPr/>
        </p:nvSpPr>
        <p:spPr>
          <a:xfrm>
            <a:off x="3566160" y="4992624"/>
            <a:ext cx="1463040" cy="310896"/>
          </a:xfrm>
          <a:prstGeom prst="rect">
            <a:avLst/>
          </a:prstGeom>
          <a:noFill/>
        </p:spPr>
        <p:txBody>
          <a:bodyPr wrap="square">
            <a:spAutoFit/>
          </a:bodyPr>
          <a:lstStyle/>
          <a:p>
            <a:pPr algn="l"/>
            <a:r>
              <a:rPr sz="1100" b="1">
                <a:solidFill>
                  <a:srgbClr val="00A19A"/>
                </a:solidFill>
                <a:latin typeface="Calibri"/>
              </a:rPr>
              <a:t>88</a:t>
            </a:r>
          </a:p>
        </p:txBody>
      </p:sp>
      <p:sp>
        <p:nvSpPr>
          <p:cNvPr id="41" name="TextBox 40"/>
          <p:cNvSpPr txBox="1"/>
          <p:nvPr/>
        </p:nvSpPr>
        <p:spPr>
          <a:xfrm>
            <a:off x="5120640" y="4992624"/>
            <a:ext cx="1828800" cy="310896"/>
          </a:xfrm>
          <a:prstGeom prst="rect">
            <a:avLst/>
          </a:prstGeom>
          <a:noFill/>
        </p:spPr>
        <p:txBody>
          <a:bodyPr wrap="square">
            <a:spAutoFit/>
          </a:bodyPr>
          <a:lstStyle/>
          <a:p>
            <a:pPr algn="l"/>
            <a:r>
              <a:rPr sz="1000" b="0">
                <a:solidFill>
                  <a:srgbClr val="6B7A8B"/>
                </a:solidFill>
                <a:latin typeface="Calibri"/>
              </a:rPr>
              <a:t>fuzzy against master + aliases</a:t>
            </a:r>
          </a:p>
        </p:txBody>
      </p:sp>
      <p:sp>
        <p:nvSpPr>
          <p:cNvPr id="42" name="Rounded Rectangle 41"/>
          <p:cNvSpPr/>
          <p:nvPr/>
        </p:nvSpPr>
        <p:spPr>
          <a:xfrm>
            <a:off x="7315200" y="1691640"/>
            <a:ext cx="4343400" cy="1828800"/>
          </a:xfrm>
          <a:prstGeom prst="roundRect">
            <a:avLst/>
          </a:prstGeom>
          <a:solidFill>
            <a:srgbClr val="FDF3E4"/>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0B2545"/>
                </a:solidFill>
                <a:latin typeface="Calibri"/>
              </a:rPr>
              <a:t>The absolute price tolerance governs the extended line value, not the unit price.</a:t>
            </a:r>
          </a:p>
          <a:p>
            <a:pPr algn="ctr"/>
          </a:p>
          <a:p>
            <a:pPr algn="ctr"/>
            <a:r>
              <a:rPr sz="1200" b="0">
                <a:solidFill>
                  <a:srgbClr val="0B2545"/>
                </a:solidFill>
                <a:latin typeface="Calibri"/>
              </a:rPr>
              <a:t>A flat 5.00 per-unit floor waves through a 34% overcharge on a 14.50 part, and hundreds of euros once multiplied across quantity.</a:t>
            </a:r>
          </a:p>
        </p:txBody>
      </p:sp>
      <p:sp>
        <p:nvSpPr>
          <p:cNvPr id="43" name="Rounded Rectangle 42"/>
          <p:cNvSpPr/>
          <p:nvPr/>
        </p:nvSpPr>
        <p:spPr>
          <a:xfrm>
            <a:off x="7315200" y="3703320"/>
            <a:ext cx="4343400" cy="160020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0B2545"/>
                </a:solidFill>
                <a:latin typeface="Calibri"/>
              </a:rPr>
              <a:t>Line pairing falls back in three steps: PO line number, then material code, then fuzzy description. Real invoices carry neither of the first two, and hard-joining manufactures exceptions a human then clears by hand.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Exceptions and the human in the loop</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Fourteen typed exceptions, each with the policy text that produced it</a:t>
            </a:r>
          </a:p>
        </p:txBody>
      </p:sp>
      <p:sp>
        <p:nvSpPr>
          <p:cNvPr id="6" name="Rounded Rectangle 5"/>
          <p:cNvSpPr/>
          <p:nvPr/>
        </p:nvSpPr>
        <p:spPr>
          <a:xfrm>
            <a:off x="502920" y="173736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price_variance</a:t>
            </a:r>
          </a:p>
        </p:txBody>
      </p:sp>
      <p:sp>
        <p:nvSpPr>
          <p:cNvPr id="7" name="Rounded Rectangle 6"/>
          <p:cNvSpPr/>
          <p:nvPr/>
        </p:nvSpPr>
        <p:spPr>
          <a:xfrm>
            <a:off x="3355848" y="173736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quantity_variance</a:t>
            </a:r>
          </a:p>
        </p:txBody>
      </p:sp>
      <p:sp>
        <p:nvSpPr>
          <p:cNvPr id="8" name="Rounded Rectangle 7"/>
          <p:cNvSpPr/>
          <p:nvPr/>
        </p:nvSpPr>
        <p:spPr>
          <a:xfrm>
            <a:off x="6208776" y="173736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total_variance</a:t>
            </a:r>
          </a:p>
        </p:txBody>
      </p:sp>
      <p:sp>
        <p:nvSpPr>
          <p:cNvPr id="9" name="Rounded Rectangle 8"/>
          <p:cNvSpPr/>
          <p:nvPr/>
        </p:nvSpPr>
        <p:spPr>
          <a:xfrm>
            <a:off x="9061704" y="173736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tax_variance</a:t>
            </a:r>
          </a:p>
        </p:txBody>
      </p:sp>
      <p:sp>
        <p:nvSpPr>
          <p:cNvPr id="10" name="Rounded Rectangle 9"/>
          <p:cNvSpPr/>
          <p:nvPr/>
        </p:nvSpPr>
        <p:spPr>
          <a:xfrm>
            <a:off x="502920" y="224028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missing_po</a:t>
            </a:r>
          </a:p>
        </p:txBody>
      </p:sp>
      <p:sp>
        <p:nvSpPr>
          <p:cNvPr id="11" name="Rounded Rectangle 10"/>
          <p:cNvSpPr/>
          <p:nvPr/>
        </p:nvSpPr>
        <p:spPr>
          <a:xfrm>
            <a:off x="3355848" y="224028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missing_goods_receipt</a:t>
            </a:r>
          </a:p>
        </p:txBody>
      </p:sp>
      <p:sp>
        <p:nvSpPr>
          <p:cNvPr id="12" name="Rounded Rectangle 11"/>
          <p:cNvSpPr/>
          <p:nvPr/>
        </p:nvSpPr>
        <p:spPr>
          <a:xfrm>
            <a:off x="6208776" y="224028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duplicate_invoice</a:t>
            </a:r>
          </a:p>
        </p:txBody>
      </p:sp>
      <p:sp>
        <p:nvSpPr>
          <p:cNvPr id="13" name="Rounded Rectangle 12"/>
          <p:cNvSpPr/>
          <p:nvPr/>
        </p:nvSpPr>
        <p:spPr>
          <a:xfrm>
            <a:off x="9061704" y="224028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unknown_vendor</a:t>
            </a:r>
          </a:p>
        </p:txBody>
      </p:sp>
      <p:sp>
        <p:nvSpPr>
          <p:cNvPr id="14" name="Rounded Rectangle 13"/>
          <p:cNvSpPr/>
          <p:nvPr/>
        </p:nvSpPr>
        <p:spPr>
          <a:xfrm>
            <a:off x="502920" y="274320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low_confidence_extraction</a:t>
            </a:r>
          </a:p>
        </p:txBody>
      </p:sp>
      <p:sp>
        <p:nvSpPr>
          <p:cNvPr id="15" name="Rounded Rectangle 14"/>
          <p:cNvSpPr/>
          <p:nvPr/>
        </p:nvSpPr>
        <p:spPr>
          <a:xfrm>
            <a:off x="3355848" y="274320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line_not_on_po</a:t>
            </a:r>
          </a:p>
        </p:txBody>
      </p:sp>
      <p:sp>
        <p:nvSpPr>
          <p:cNvPr id="16" name="Rounded Rectangle 15"/>
          <p:cNvSpPr/>
          <p:nvPr/>
        </p:nvSpPr>
        <p:spPr>
          <a:xfrm>
            <a:off x="6208776" y="274320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over_auto_post_ceiling</a:t>
            </a:r>
          </a:p>
        </p:txBody>
      </p:sp>
      <p:sp>
        <p:nvSpPr>
          <p:cNvPr id="17" name="Rounded Rectangle 16"/>
          <p:cNvSpPr/>
          <p:nvPr/>
        </p:nvSpPr>
        <p:spPr>
          <a:xfrm>
            <a:off x="9061704" y="274320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currency_mismatch</a:t>
            </a:r>
          </a:p>
        </p:txBody>
      </p:sp>
      <p:sp>
        <p:nvSpPr>
          <p:cNvPr id="18" name="Rounded Rectangle 17"/>
          <p:cNvSpPr/>
          <p:nvPr/>
        </p:nvSpPr>
        <p:spPr>
          <a:xfrm>
            <a:off x="502920" y="324612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unapplied_remittance</a:t>
            </a:r>
          </a:p>
        </p:txBody>
      </p:sp>
      <p:sp>
        <p:nvSpPr>
          <p:cNvPr id="19" name="Rounded Rectangle 18"/>
          <p:cNvSpPr/>
          <p:nvPr/>
        </p:nvSpPr>
        <p:spPr>
          <a:xfrm>
            <a:off x="3355848" y="3246120"/>
            <a:ext cx="2697480" cy="41148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erp_posting_failed</a:t>
            </a:r>
          </a:p>
        </p:txBody>
      </p:sp>
      <p:sp>
        <p:nvSpPr>
          <p:cNvPr id="20" name="Rounded Rectangle 19"/>
          <p:cNvSpPr/>
          <p:nvPr/>
        </p:nvSpPr>
        <p:spPr>
          <a:xfrm>
            <a:off x="502920" y="3794760"/>
            <a:ext cx="5440680" cy="1371600"/>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334455"/>
                </a:solidFill>
                <a:latin typeface="Calibri"/>
              </a:rPr>
              <a:t>Each case carries a severity, a plain-language summary, a suggested action, and the variance detail. The relevant AP policy is retrieved from the knowledge base and attached, so the approver sees the rule, not only the number that broke it.</a:t>
            </a:r>
          </a:p>
        </p:txBody>
      </p:sp>
      <p:sp>
        <p:nvSpPr>
          <p:cNvPr id="21" name="Rounded Rectangle 20"/>
          <p:cNvSpPr/>
          <p:nvPr/>
        </p:nvSpPr>
        <p:spPr>
          <a:xfrm>
            <a:off x="6217920" y="3794760"/>
            <a:ext cx="5440680" cy="1371600"/>
          </a:xfrm>
          <a:prstGeom prst="roundRect">
            <a:avLst/>
          </a:prstGeom>
          <a:solidFill>
            <a:srgbClr val="FDF3E4"/>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0B2545"/>
                </a:solidFill>
                <a:latin typeface="Calibri"/>
              </a:rPr>
              <a:t>Duplicate detection keys on vendor, invoice number and gross amount. Invoice date is deliberately excluded: vendors re-issue the same invoice with a fresh print date, and including it would let a genuine duplicate through.</a:t>
            </a:r>
          </a:p>
        </p:txBody>
      </p:sp>
      <p:sp>
        <p:nvSpPr>
          <p:cNvPr id="22" name="Rounded Rectangle 21"/>
          <p:cNvSpPr/>
          <p:nvPr/>
        </p:nvSpPr>
        <p:spPr>
          <a:xfrm>
            <a:off x="502920" y="5394960"/>
            <a:ext cx="11155680" cy="685800"/>
          </a:xfrm>
          <a:prstGeom prst="roundRect">
            <a:avLst/>
          </a:prstGeom>
          <a:solidFill>
            <a:srgbClr val="0B2545"/>
          </a:solidFill>
          <a:ln w="1270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FFFFFF"/>
                </a:solidFill>
                <a:latin typeface="Calibri"/>
              </a:rPr>
              <a:t>GET /exceptions  -&gt;  human reviews  -&gt;  POST /exceptions/{id}/decision  -&gt;  the checkpointed run resumes and posts, or closes as rejected. Either way the decision, the approver and the note land in the audit trail.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The accounts-receivable mirror</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The same pattern, pointed at incoming remittances</a:t>
            </a:r>
          </a:p>
        </p:txBody>
      </p:sp>
      <p:sp>
        <p:nvSpPr>
          <p:cNvPr id="6" name="Rounded Rectangle 5"/>
          <p:cNvSpPr/>
          <p:nvPr/>
        </p:nvSpPr>
        <p:spPr>
          <a:xfrm>
            <a:off x="1280160" y="2011680"/>
            <a:ext cx="2148840" cy="91440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334455"/>
                </a:solidFill>
                <a:latin typeface="Calibri"/>
              </a:rPr>
              <a:t>parse</a:t>
            </a:r>
          </a:p>
        </p:txBody>
      </p:sp>
      <p:cxnSp>
        <p:nvCxnSpPr>
          <p:cNvPr id="7" name="Connector 6"/>
          <p:cNvCxnSpPr/>
          <p:nvPr/>
        </p:nvCxnSpPr>
        <p:spPr>
          <a:xfrm>
            <a:off x="3456432" y="2468880"/>
            <a:ext cx="402336"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886200" y="2011680"/>
            <a:ext cx="2148840" cy="91440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334455"/>
                </a:solidFill>
                <a:latin typeface="Calibri"/>
              </a:rPr>
              <a:t>extract</a:t>
            </a:r>
          </a:p>
          <a:p>
            <a:pPr algn="ctr"/>
            <a:r>
              <a:rPr sz="1300" b="0">
                <a:solidFill>
                  <a:srgbClr val="334455"/>
                </a:solidFill>
                <a:latin typeface="Calibri"/>
              </a:rPr>
              <a:t>remittance</a:t>
            </a:r>
          </a:p>
        </p:txBody>
      </p:sp>
      <p:cxnSp>
        <p:nvCxnSpPr>
          <p:cNvPr id="9" name="Connector 8"/>
          <p:cNvCxnSpPr/>
          <p:nvPr/>
        </p:nvCxnSpPr>
        <p:spPr>
          <a:xfrm>
            <a:off x="6062472" y="2468880"/>
            <a:ext cx="402336"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92240" y="2011680"/>
            <a:ext cx="2148840" cy="91440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334455"/>
                </a:solidFill>
                <a:latin typeface="Calibri"/>
              </a:rPr>
              <a:t>fetch open</a:t>
            </a:r>
          </a:p>
          <a:p>
            <a:pPr algn="ctr"/>
            <a:r>
              <a:rPr sz="1300" b="0">
                <a:solidFill>
                  <a:srgbClr val="334455"/>
                </a:solidFill>
                <a:latin typeface="Calibri"/>
              </a:rPr>
              <a:t>AR items</a:t>
            </a:r>
          </a:p>
        </p:txBody>
      </p:sp>
      <p:cxnSp>
        <p:nvCxnSpPr>
          <p:cNvPr id="11" name="Connector 10"/>
          <p:cNvCxnSpPr/>
          <p:nvPr/>
        </p:nvCxnSpPr>
        <p:spPr>
          <a:xfrm>
            <a:off x="8668512" y="2468880"/>
            <a:ext cx="402336" cy="0"/>
          </a:xfrm>
          <a:prstGeom prst="bentConnector3">
            <a:avLst/>
          </a:prstGeom>
          <a:ln w="22225">
            <a:solidFill>
              <a:srgbClr val="6B7A8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098280" y="2011680"/>
            <a:ext cx="2148840" cy="91440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334455"/>
                </a:solidFill>
                <a:latin typeface="Calibri"/>
              </a:rPr>
              <a:t>apply cash</a:t>
            </a:r>
          </a:p>
        </p:txBody>
      </p:sp>
      <p:sp>
        <p:nvSpPr>
          <p:cNvPr id="13" name="Oval 12"/>
          <p:cNvSpPr/>
          <p:nvPr/>
        </p:nvSpPr>
        <p:spPr>
          <a:xfrm>
            <a:off x="640080" y="3739896"/>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630168"/>
            <a:ext cx="10735056" cy="457200"/>
          </a:xfrm>
          <a:prstGeom prst="rect">
            <a:avLst/>
          </a:prstGeom>
          <a:noFill/>
        </p:spPr>
        <p:txBody>
          <a:bodyPr wrap="square">
            <a:spAutoFit/>
          </a:bodyPr>
          <a:lstStyle/>
          <a:p>
            <a:pPr algn="l"/>
            <a:r>
              <a:rPr sz="1400" b="0">
                <a:solidFill>
                  <a:srgbClr val="334455"/>
                </a:solidFill>
                <a:latin typeface="Calibri"/>
              </a:rPr>
              <a:t>A customer remittance advice lists which invoices a payment covers, and for how much.</a:t>
            </a:r>
          </a:p>
        </p:txBody>
      </p:sp>
      <p:sp>
        <p:nvSpPr>
          <p:cNvPr id="15" name="Oval 14"/>
          <p:cNvSpPr/>
          <p:nvPr/>
        </p:nvSpPr>
        <p:spPr>
          <a:xfrm>
            <a:off x="640080" y="4197096"/>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4087368"/>
            <a:ext cx="10735056" cy="457200"/>
          </a:xfrm>
          <a:prstGeom prst="rect">
            <a:avLst/>
          </a:prstGeom>
          <a:noFill/>
        </p:spPr>
        <p:txBody>
          <a:bodyPr wrap="square">
            <a:spAutoFit/>
          </a:bodyPr>
          <a:lstStyle/>
          <a:p>
            <a:pPr algn="l"/>
            <a:r>
              <a:rPr sz="1400" b="0">
                <a:solidFill>
                  <a:srgbClr val="334455"/>
                </a:solidFill>
                <a:latin typeface="Calibri"/>
              </a:rPr>
              <a:t>Open AR items are pulled from the ERP and matched against the advice line by line.</a:t>
            </a:r>
          </a:p>
        </p:txBody>
      </p:sp>
      <p:sp>
        <p:nvSpPr>
          <p:cNvPr id="17" name="Oval 16"/>
          <p:cNvSpPr/>
          <p:nvPr/>
        </p:nvSpPr>
        <p:spPr>
          <a:xfrm>
            <a:off x="640080" y="4654296"/>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544568"/>
            <a:ext cx="10735056" cy="457200"/>
          </a:xfrm>
          <a:prstGeom prst="rect">
            <a:avLst/>
          </a:prstGeom>
          <a:noFill/>
        </p:spPr>
        <p:txBody>
          <a:bodyPr wrap="square">
            <a:spAutoFit/>
          </a:bodyPr>
          <a:lstStyle/>
          <a:p>
            <a:pPr algn="l"/>
            <a:r>
              <a:rPr sz="1400" b="0">
                <a:solidFill>
                  <a:srgbClr val="334455"/>
                </a:solidFill>
                <a:latin typeface="Calibri"/>
              </a:rPr>
              <a:t>Cash is applied per item; a residual outside the remittance tolerance stays open.</a:t>
            </a:r>
          </a:p>
        </p:txBody>
      </p:sp>
      <p:sp>
        <p:nvSpPr>
          <p:cNvPr id="19" name="Oval 18"/>
          <p:cNvSpPr/>
          <p:nvPr/>
        </p:nvSpPr>
        <p:spPr>
          <a:xfrm>
            <a:off x="640080" y="5111496"/>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001768"/>
            <a:ext cx="10735056" cy="457200"/>
          </a:xfrm>
          <a:prstGeom prst="rect">
            <a:avLst/>
          </a:prstGeom>
          <a:noFill/>
        </p:spPr>
        <p:txBody>
          <a:bodyPr wrap="square">
            <a:spAutoFit/>
          </a:bodyPr>
          <a:lstStyle/>
          <a:p>
            <a:pPr algn="l"/>
            <a:r>
              <a:rPr sz="1400" b="0">
                <a:solidFill>
                  <a:srgbClr val="334455"/>
                </a:solidFill>
                <a:latin typeface="Calibri"/>
              </a:rPr>
              <a:t>An unmatched payment raises unapplied_remittance rather than being force-applied.</a:t>
            </a:r>
          </a:p>
        </p:txBody>
      </p:sp>
      <p:sp>
        <p:nvSpPr>
          <p:cNvPr id="21" name="Oval 20"/>
          <p:cNvSpPr/>
          <p:nvPr/>
        </p:nvSpPr>
        <p:spPr>
          <a:xfrm>
            <a:off x="640080" y="5568696"/>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458968"/>
            <a:ext cx="10735056" cy="457200"/>
          </a:xfrm>
          <a:prstGeom prst="rect">
            <a:avLst/>
          </a:prstGeom>
          <a:noFill/>
        </p:spPr>
        <p:txBody>
          <a:bodyPr wrap="square">
            <a:spAutoFit/>
          </a:bodyPr>
          <a:lstStyle/>
          <a:p>
            <a:pPr algn="l"/>
            <a:r>
              <a:rPr sz="1400" b="0">
                <a:solidFill>
                  <a:srgbClr val="334455"/>
                </a:solidFill>
                <a:latin typeface="Calibri"/>
              </a:rPr>
              <a:t>It reuses the same parser, the same extraction path and the same audit trail.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Audit trail</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Why a payment was made, reconstructable without a model</a:t>
            </a:r>
          </a:p>
        </p:txBody>
      </p:sp>
      <p:sp>
        <p:nvSpPr>
          <p:cNvPr id="6" name="Rectangle 5"/>
          <p:cNvSpPr/>
          <p:nvPr/>
        </p:nvSpPr>
        <p:spPr>
          <a:xfrm>
            <a:off x="502920" y="1737360"/>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email_received</a:t>
            </a:r>
          </a:p>
        </p:txBody>
      </p:sp>
      <p:sp>
        <p:nvSpPr>
          <p:cNvPr id="7" name="Rectangle 6"/>
          <p:cNvSpPr/>
          <p:nvPr/>
        </p:nvSpPr>
        <p:spPr>
          <a:xfrm>
            <a:off x="502920" y="2066543"/>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document_parsed</a:t>
            </a:r>
          </a:p>
        </p:txBody>
      </p:sp>
      <p:sp>
        <p:nvSpPr>
          <p:cNvPr id="8" name="Rectangle 7"/>
          <p:cNvSpPr/>
          <p:nvPr/>
        </p:nvSpPr>
        <p:spPr>
          <a:xfrm>
            <a:off x="502920" y="2395728"/>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fields_extracted</a:t>
            </a:r>
          </a:p>
        </p:txBody>
      </p:sp>
      <p:sp>
        <p:nvSpPr>
          <p:cNvPr id="9" name="Rectangle 8"/>
          <p:cNvSpPr/>
          <p:nvPr/>
        </p:nvSpPr>
        <p:spPr>
          <a:xfrm>
            <a:off x="502920" y="2724912"/>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duplicate_checked</a:t>
            </a:r>
          </a:p>
        </p:txBody>
      </p:sp>
      <p:sp>
        <p:nvSpPr>
          <p:cNvPr id="10" name="Rectangle 9"/>
          <p:cNvSpPr/>
          <p:nvPr/>
        </p:nvSpPr>
        <p:spPr>
          <a:xfrm>
            <a:off x="502920" y="3054096"/>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vendor_resolved</a:t>
            </a:r>
          </a:p>
        </p:txBody>
      </p:sp>
      <p:sp>
        <p:nvSpPr>
          <p:cNvPr id="11" name="Rectangle 10"/>
          <p:cNvSpPr/>
          <p:nvPr/>
        </p:nvSpPr>
        <p:spPr>
          <a:xfrm>
            <a:off x="502920" y="3383279"/>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po_fetched</a:t>
            </a:r>
          </a:p>
        </p:txBody>
      </p:sp>
      <p:sp>
        <p:nvSpPr>
          <p:cNvPr id="12" name="Rectangle 11"/>
          <p:cNvSpPr/>
          <p:nvPr/>
        </p:nvSpPr>
        <p:spPr>
          <a:xfrm>
            <a:off x="502920" y="3712464"/>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goods_receipt_fetched</a:t>
            </a:r>
          </a:p>
        </p:txBody>
      </p:sp>
      <p:sp>
        <p:nvSpPr>
          <p:cNvPr id="13" name="Rectangle 12"/>
          <p:cNvSpPr/>
          <p:nvPr/>
        </p:nvSpPr>
        <p:spPr>
          <a:xfrm>
            <a:off x="502920" y="4041648"/>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match_evaluated</a:t>
            </a:r>
          </a:p>
        </p:txBody>
      </p:sp>
      <p:sp>
        <p:nvSpPr>
          <p:cNvPr id="14" name="Rectangle 13"/>
          <p:cNvSpPr/>
          <p:nvPr/>
        </p:nvSpPr>
        <p:spPr>
          <a:xfrm>
            <a:off x="502920" y="4370831"/>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exception_raised</a:t>
            </a:r>
          </a:p>
        </p:txBody>
      </p:sp>
      <p:sp>
        <p:nvSpPr>
          <p:cNvPr id="15" name="Rectangle 14"/>
          <p:cNvSpPr/>
          <p:nvPr/>
        </p:nvSpPr>
        <p:spPr>
          <a:xfrm>
            <a:off x="502920" y="4700016"/>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human_decision</a:t>
            </a:r>
          </a:p>
        </p:txBody>
      </p:sp>
      <p:sp>
        <p:nvSpPr>
          <p:cNvPr id="16" name="Rectangle 15"/>
          <p:cNvSpPr/>
          <p:nvPr/>
        </p:nvSpPr>
        <p:spPr>
          <a:xfrm>
            <a:off x="502920" y="5029200"/>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journal_posted</a:t>
            </a:r>
          </a:p>
        </p:txBody>
      </p:sp>
      <p:sp>
        <p:nvSpPr>
          <p:cNvPr id="17" name="Rectangle 16"/>
          <p:cNvSpPr/>
          <p:nvPr/>
        </p:nvSpPr>
        <p:spPr>
          <a:xfrm>
            <a:off x="502920" y="5358383"/>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cash_applied</a:t>
            </a:r>
          </a:p>
        </p:txBody>
      </p:sp>
      <p:sp>
        <p:nvSpPr>
          <p:cNvPr id="18" name="Rectangle 17"/>
          <p:cNvSpPr/>
          <p:nvPr/>
        </p:nvSpPr>
        <p:spPr>
          <a:xfrm>
            <a:off x="502920" y="5687568"/>
            <a:ext cx="3108960" cy="274320"/>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334455"/>
                </a:solidFill>
                <a:latin typeface="Calibri"/>
              </a:rPr>
              <a:t>run_failed</a:t>
            </a:r>
          </a:p>
        </p:txBody>
      </p:sp>
      <p:sp>
        <p:nvSpPr>
          <p:cNvPr id="19" name="Rounded Rectangle 18"/>
          <p:cNvSpPr/>
          <p:nvPr/>
        </p:nvSpPr>
        <p:spPr>
          <a:xfrm>
            <a:off x="3977639" y="1737360"/>
            <a:ext cx="7680960" cy="1965960"/>
          </a:xfrm>
          <a:prstGeom prst="roundRect">
            <a:avLst/>
          </a:prstGeom>
          <a:solidFill>
            <a:srgbClr val="FFFFFF"/>
          </a:solidFill>
          <a:ln w="12700">
            <a:solidFill>
              <a:srgbClr val="00A1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334455"/>
                </a:solidFill>
                <a:latin typeface="Calibri"/>
              </a:rPr>
              <a:t>Every event records the acting node, a summary, a structured payload, elapsed milliseconds, and - critically - the source email message id and the SHA-256 of the source document.</a:t>
            </a:r>
          </a:p>
          <a:p>
            <a:pPr algn="ctr"/>
          </a:p>
          <a:p>
            <a:pPr algn="ctr"/>
            <a:r>
              <a:rPr sz="1300" b="0">
                <a:solidFill>
                  <a:srgbClr val="334455"/>
                </a:solidFill>
                <a:latin typeface="Calibri"/>
              </a:rPr>
              <a:t>That hash is what ties a posted payment back to the exact bytes that justified it.</a:t>
            </a:r>
          </a:p>
        </p:txBody>
      </p:sp>
      <p:sp>
        <p:nvSpPr>
          <p:cNvPr id="20" name="Rounded Rectangle 19"/>
          <p:cNvSpPr/>
          <p:nvPr/>
        </p:nvSpPr>
        <p:spPr>
          <a:xfrm>
            <a:off x="3977639" y="3886200"/>
            <a:ext cx="7680960" cy="105156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334455"/>
                </a:solidFill>
                <a:latin typeface="Calibri"/>
              </a:rPr>
              <a:t>Filtered by run_id, events return in workflow sequence - the order an auditor reads them. Unfiltered, newest first - the order an operator reads them.</a:t>
            </a:r>
          </a:p>
        </p:txBody>
      </p:sp>
      <p:sp>
        <p:nvSpPr>
          <p:cNvPr id="21" name="Rounded Rectangle 20"/>
          <p:cNvSpPr/>
          <p:nvPr/>
        </p:nvSpPr>
        <p:spPr>
          <a:xfrm>
            <a:off x="3977639" y="5120640"/>
            <a:ext cx="7680960" cy="914400"/>
          </a:xfrm>
          <a:prstGeom prst="roundRect">
            <a:avLst/>
          </a:prstGeom>
          <a:solidFill>
            <a:srgbClr val="0B2545"/>
          </a:solidFill>
          <a:ln w="1270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FFFFFF"/>
                </a:solidFill>
                <a:latin typeface="Calibri"/>
              </a:rPr>
              <a:t>The straight-through rate is derived from run rows, not counted into a separate tally, so the headline metric cannot drift away from what the audit events say happened.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Observability</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Arize Phoenix over OpenInference, and never fatal</a:t>
            </a:r>
          </a:p>
        </p:txBody>
      </p:sp>
      <p:sp>
        <p:nvSpPr>
          <p:cNvPr id="6" name="Oval 5"/>
          <p:cNvSpPr/>
          <p:nvPr/>
        </p:nvSpPr>
        <p:spPr>
          <a:xfrm>
            <a:off x="640080" y="1819656"/>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09928"/>
            <a:ext cx="5431536" cy="603504"/>
          </a:xfrm>
          <a:prstGeom prst="rect">
            <a:avLst/>
          </a:prstGeom>
          <a:noFill/>
        </p:spPr>
        <p:txBody>
          <a:bodyPr wrap="square">
            <a:spAutoFit/>
          </a:bodyPr>
          <a:lstStyle/>
          <a:p>
            <a:pPr algn="l"/>
            <a:r>
              <a:rPr sz="1400" b="0">
                <a:solidFill>
                  <a:srgbClr val="334455"/>
                </a:solidFill>
                <a:latin typeface="Calibri"/>
              </a:rPr>
              <a:t>LangChain and LlamaIndex instrumentors export spans over OTLP to Phoenix.</a:t>
            </a:r>
          </a:p>
        </p:txBody>
      </p:sp>
      <p:sp>
        <p:nvSpPr>
          <p:cNvPr id="8" name="Oval 7"/>
          <p:cNvSpPr/>
          <p:nvPr/>
        </p:nvSpPr>
        <p:spPr>
          <a:xfrm>
            <a:off x="640080" y="2423160"/>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313432"/>
            <a:ext cx="5431536" cy="603504"/>
          </a:xfrm>
          <a:prstGeom prst="rect">
            <a:avLst/>
          </a:prstGeom>
          <a:noFill/>
        </p:spPr>
        <p:txBody>
          <a:bodyPr wrap="square">
            <a:spAutoFit/>
          </a:bodyPr>
          <a:lstStyle/>
          <a:p>
            <a:pPr algn="l"/>
            <a:r>
              <a:rPr sz="1400" b="0">
                <a:solidFill>
                  <a:srgbClr val="334455"/>
                </a:solidFill>
                <a:latin typeface="Calibri"/>
              </a:rPr>
              <a:t>Every extraction, retrieval and graph node appears as a span with latency and tokens.</a:t>
            </a:r>
          </a:p>
        </p:txBody>
      </p:sp>
      <p:sp>
        <p:nvSpPr>
          <p:cNvPr id="10" name="Oval 9"/>
          <p:cNvSpPr/>
          <p:nvPr/>
        </p:nvSpPr>
        <p:spPr>
          <a:xfrm>
            <a:off x="640080" y="3026663"/>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916936"/>
            <a:ext cx="5431536" cy="603504"/>
          </a:xfrm>
          <a:prstGeom prst="rect">
            <a:avLst/>
          </a:prstGeom>
          <a:noFill/>
        </p:spPr>
        <p:txBody>
          <a:bodyPr wrap="square">
            <a:spAutoFit/>
          </a:bodyPr>
          <a:lstStyle/>
          <a:p>
            <a:pPr algn="l"/>
            <a:r>
              <a:rPr sz="1400" b="0">
                <a:solidFill>
                  <a:srgbClr val="334455"/>
                </a:solidFill>
                <a:latin typeface="Calibri"/>
              </a:rPr>
              <a:t>A slow or failing invoice is inspected as a trace, not reconstructed from log lines.</a:t>
            </a:r>
          </a:p>
        </p:txBody>
      </p:sp>
      <p:sp>
        <p:nvSpPr>
          <p:cNvPr id="12" name="Oval 11"/>
          <p:cNvSpPr/>
          <p:nvPr/>
        </p:nvSpPr>
        <p:spPr>
          <a:xfrm>
            <a:off x="640080" y="3630168"/>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3520440"/>
            <a:ext cx="5431536" cy="603504"/>
          </a:xfrm>
          <a:prstGeom prst="rect">
            <a:avLst/>
          </a:prstGeom>
          <a:noFill/>
        </p:spPr>
        <p:txBody>
          <a:bodyPr wrap="square">
            <a:spAutoFit/>
          </a:bodyPr>
          <a:lstStyle/>
          <a:p>
            <a:pPr algn="l"/>
            <a:r>
              <a:rPr sz="1400" b="0">
                <a:solidFill>
                  <a:srgbClr val="334455"/>
                </a:solidFill>
                <a:latin typeface="Calibri"/>
              </a:rPr>
              <a:t>Tracing setup is wrapped: an unreachable collector logs a warning and the service runs on. Observability is not the product.</a:t>
            </a:r>
          </a:p>
        </p:txBody>
      </p:sp>
      <p:sp>
        <p:nvSpPr>
          <p:cNvPr id="14" name="Oval 13"/>
          <p:cNvSpPr/>
          <p:nvPr/>
        </p:nvSpPr>
        <p:spPr>
          <a:xfrm>
            <a:off x="640080" y="4233672"/>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4123944"/>
            <a:ext cx="5431536" cy="603504"/>
          </a:xfrm>
          <a:prstGeom prst="rect">
            <a:avLst/>
          </a:prstGeom>
          <a:noFill/>
        </p:spPr>
        <p:txBody>
          <a:bodyPr wrap="square">
            <a:spAutoFit/>
          </a:bodyPr>
          <a:lstStyle/>
          <a:p>
            <a:pPr algn="l"/>
            <a:r>
              <a:rPr sz="1400" b="0">
                <a:solidFill>
                  <a:srgbClr val="334455"/>
                </a:solidFill>
                <a:latin typeface="Calibri"/>
              </a:rPr>
              <a:t>Health reports each dependency separately, so degraded is distinguishable from down.</a:t>
            </a:r>
          </a:p>
        </p:txBody>
      </p:sp>
      <p:sp>
        <p:nvSpPr>
          <p:cNvPr id="16" name="Rounded Rectangle 15"/>
          <p:cNvSpPr/>
          <p:nvPr/>
        </p:nvSpPr>
        <p:spPr>
          <a:xfrm>
            <a:off x="6675120" y="1737360"/>
            <a:ext cx="4983480" cy="457200"/>
          </a:xfrm>
          <a:prstGeom prst="roundRect">
            <a:avLst/>
          </a:prstGeom>
          <a:solidFill>
            <a:srgbClr val="0B2545"/>
          </a:solidFill>
          <a:ln w="1270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GET /api/v1/health</a:t>
            </a:r>
          </a:p>
        </p:txBody>
      </p:sp>
      <p:sp>
        <p:nvSpPr>
          <p:cNvPr id="17" name="Rounded Rectangle 16"/>
          <p:cNvSpPr/>
          <p:nvPr/>
        </p:nvSpPr>
        <p:spPr>
          <a:xfrm>
            <a:off x="6675120" y="2331720"/>
            <a:ext cx="4983480" cy="56692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8" name="TextBox 17"/>
          <p:cNvSpPr txBox="1"/>
          <p:nvPr/>
        </p:nvSpPr>
        <p:spPr>
          <a:xfrm>
            <a:off x="6839712" y="2386584"/>
            <a:ext cx="1828800" cy="274320"/>
          </a:xfrm>
          <a:prstGeom prst="rect">
            <a:avLst/>
          </a:prstGeom>
          <a:noFill/>
        </p:spPr>
        <p:txBody>
          <a:bodyPr wrap="square">
            <a:spAutoFit/>
          </a:bodyPr>
          <a:lstStyle/>
          <a:p>
            <a:pPr algn="l"/>
            <a:r>
              <a:rPr sz="1200" b="1">
                <a:solidFill>
                  <a:srgbClr val="0B2545"/>
                </a:solidFill>
                <a:latin typeface="Calibri"/>
              </a:rPr>
              <a:t>postgres</a:t>
            </a:r>
          </a:p>
        </p:txBody>
      </p:sp>
      <p:sp>
        <p:nvSpPr>
          <p:cNvPr id="19" name="TextBox 18"/>
          <p:cNvSpPr txBox="1"/>
          <p:nvPr/>
        </p:nvSpPr>
        <p:spPr>
          <a:xfrm>
            <a:off x="6839712" y="2624327"/>
            <a:ext cx="4663440" cy="256032"/>
          </a:xfrm>
          <a:prstGeom prst="rect">
            <a:avLst/>
          </a:prstGeom>
          <a:noFill/>
        </p:spPr>
        <p:txBody>
          <a:bodyPr wrap="square">
            <a:spAutoFit/>
          </a:bodyPr>
          <a:lstStyle/>
          <a:p>
            <a:pPr algn="l"/>
            <a:r>
              <a:rPr sz="1000" b="0">
                <a:solidFill>
                  <a:srgbClr val="C0392B"/>
                </a:solidFill>
                <a:latin typeface="Calibri"/>
              </a:rPr>
              <a:t>service cannot run without it</a:t>
            </a:r>
          </a:p>
        </p:txBody>
      </p:sp>
      <p:sp>
        <p:nvSpPr>
          <p:cNvPr id="20" name="Rounded Rectangle 19"/>
          <p:cNvSpPr/>
          <p:nvPr/>
        </p:nvSpPr>
        <p:spPr>
          <a:xfrm>
            <a:off x="6675120" y="2990087"/>
            <a:ext cx="4983480" cy="56692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1" name="TextBox 20"/>
          <p:cNvSpPr txBox="1"/>
          <p:nvPr/>
        </p:nvSpPr>
        <p:spPr>
          <a:xfrm>
            <a:off x="6839712" y="3044951"/>
            <a:ext cx="1828800" cy="274320"/>
          </a:xfrm>
          <a:prstGeom prst="rect">
            <a:avLst/>
          </a:prstGeom>
          <a:noFill/>
        </p:spPr>
        <p:txBody>
          <a:bodyPr wrap="square">
            <a:spAutoFit/>
          </a:bodyPr>
          <a:lstStyle/>
          <a:p>
            <a:pPr algn="l"/>
            <a:r>
              <a:rPr sz="1200" b="1">
                <a:solidFill>
                  <a:srgbClr val="0B2545"/>
                </a:solidFill>
                <a:latin typeface="Calibri"/>
              </a:rPr>
              <a:t>ollama</a:t>
            </a:r>
          </a:p>
        </p:txBody>
      </p:sp>
      <p:sp>
        <p:nvSpPr>
          <p:cNvPr id="22" name="TextBox 21"/>
          <p:cNvSpPr txBox="1"/>
          <p:nvPr/>
        </p:nvSpPr>
        <p:spPr>
          <a:xfrm>
            <a:off x="6839712" y="3282695"/>
            <a:ext cx="4663440" cy="256032"/>
          </a:xfrm>
          <a:prstGeom prst="rect">
            <a:avLst/>
          </a:prstGeom>
          <a:noFill/>
        </p:spPr>
        <p:txBody>
          <a:bodyPr wrap="square">
            <a:spAutoFit/>
          </a:bodyPr>
          <a:lstStyle/>
          <a:p>
            <a:pPr algn="l"/>
            <a:r>
              <a:rPr sz="1000" b="0">
                <a:solidFill>
                  <a:srgbClr val="E88B2F"/>
                </a:solidFill>
                <a:latin typeface="Calibri"/>
              </a:rPr>
              <a:t>no new processing, queue readable</a:t>
            </a:r>
          </a:p>
        </p:txBody>
      </p:sp>
      <p:sp>
        <p:nvSpPr>
          <p:cNvPr id="23" name="Rounded Rectangle 22"/>
          <p:cNvSpPr/>
          <p:nvPr/>
        </p:nvSpPr>
        <p:spPr>
          <a:xfrm>
            <a:off x="6675120" y="3648456"/>
            <a:ext cx="4983480" cy="56692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4" name="TextBox 23"/>
          <p:cNvSpPr txBox="1"/>
          <p:nvPr/>
        </p:nvSpPr>
        <p:spPr>
          <a:xfrm>
            <a:off x="6839712" y="3703320"/>
            <a:ext cx="1828800" cy="274320"/>
          </a:xfrm>
          <a:prstGeom prst="rect">
            <a:avLst/>
          </a:prstGeom>
          <a:noFill/>
        </p:spPr>
        <p:txBody>
          <a:bodyPr wrap="square">
            <a:spAutoFit/>
          </a:bodyPr>
          <a:lstStyle/>
          <a:p>
            <a:pPr algn="l"/>
            <a:r>
              <a:rPr sz="1200" b="1">
                <a:solidFill>
                  <a:srgbClr val="0B2545"/>
                </a:solidFill>
                <a:latin typeface="Calibri"/>
              </a:rPr>
              <a:t>erp</a:t>
            </a:r>
          </a:p>
        </p:txBody>
      </p:sp>
      <p:sp>
        <p:nvSpPr>
          <p:cNvPr id="25" name="TextBox 24"/>
          <p:cNvSpPr txBox="1"/>
          <p:nvPr/>
        </p:nvSpPr>
        <p:spPr>
          <a:xfrm>
            <a:off x="6839712" y="3941063"/>
            <a:ext cx="4663440" cy="256032"/>
          </a:xfrm>
          <a:prstGeom prst="rect">
            <a:avLst/>
          </a:prstGeom>
          <a:noFill/>
        </p:spPr>
        <p:txBody>
          <a:bodyPr wrap="square">
            <a:spAutoFit/>
          </a:bodyPr>
          <a:lstStyle/>
          <a:p>
            <a:pPr algn="l"/>
            <a:r>
              <a:rPr sz="1000" b="0">
                <a:solidFill>
                  <a:srgbClr val="E88B2F"/>
                </a:solidFill>
                <a:latin typeface="Calibri"/>
              </a:rPr>
              <a:t>no new posting, queue readable</a:t>
            </a:r>
          </a:p>
        </p:txBody>
      </p:sp>
      <p:sp>
        <p:nvSpPr>
          <p:cNvPr id="26" name="Rounded Rectangle 25"/>
          <p:cNvSpPr/>
          <p:nvPr/>
        </p:nvSpPr>
        <p:spPr>
          <a:xfrm>
            <a:off x="6675120" y="4306824"/>
            <a:ext cx="4983480" cy="566928"/>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7" name="TextBox 26"/>
          <p:cNvSpPr txBox="1"/>
          <p:nvPr/>
        </p:nvSpPr>
        <p:spPr>
          <a:xfrm>
            <a:off x="6839712" y="4361688"/>
            <a:ext cx="1828800" cy="274320"/>
          </a:xfrm>
          <a:prstGeom prst="rect">
            <a:avLst/>
          </a:prstGeom>
          <a:noFill/>
        </p:spPr>
        <p:txBody>
          <a:bodyPr wrap="square">
            <a:spAutoFit/>
          </a:bodyPr>
          <a:lstStyle/>
          <a:p>
            <a:pPr algn="l"/>
            <a:r>
              <a:rPr sz="1200" b="1">
                <a:solidFill>
                  <a:srgbClr val="0B2545"/>
                </a:solidFill>
                <a:latin typeface="Calibri"/>
              </a:rPr>
              <a:t>phoenix</a:t>
            </a:r>
          </a:p>
        </p:txBody>
      </p:sp>
      <p:sp>
        <p:nvSpPr>
          <p:cNvPr id="28" name="TextBox 27"/>
          <p:cNvSpPr txBox="1"/>
          <p:nvPr/>
        </p:nvSpPr>
        <p:spPr>
          <a:xfrm>
            <a:off x="6839712" y="4599432"/>
            <a:ext cx="4663440" cy="256032"/>
          </a:xfrm>
          <a:prstGeom prst="rect">
            <a:avLst/>
          </a:prstGeom>
          <a:noFill/>
        </p:spPr>
        <p:txBody>
          <a:bodyPr wrap="square">
            <a:spAutoFit/>
          </a:bodyPr>
          <a:lstStyle/>
          <a:p>
            <a:pPr algn="l"/>
            <a:r>
              <a:rPr sz="1000" b="0">
                <a:solidFill>
                  <a:srgbClr val="6B7A8B"/>
                </a:solidFill>
                <a:latin typeface="Calibri"/>
              </a:rPr>
              <a:t>traces lost only</a:t>
            </a:r>
          </a:p>
        </p:txBody>
      </p:sp>
      <p:sp>
        <p:nvSpPr>
          <p:cNvPr id="29" name="Rounded Rectangle 28"/>
          <p:cNvSpPr/>
          <p:nvPr/>
        </p:nvSpPr>
        <p:spPr>
          <a:xfrm>
            <a:off x="6675120" y="5029200"/>
            <a:ext cx="4983480" cy="868680"/>
          </a:xfrm>
          <a:prstGeom prst="roundRect">
            <a:avLst/>
          </a:prstGeom>
          <a:solidFill>
            <a:srgbClr val="ECF6F5"/>
          </a:solidFill>
          <a:ln w="12700">
            <a:solidFill>
              <a:srgbClr val="00A1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0B2545"/>
                </a:solidFill>
                <a:latin typeface="Calibri"/>
              </a:rPr>
              <a:t>Postgres down -&gt; down.</a:t>
            </a:r>
          </a:p>
          <a:p>
            <a:pPr algn="ctr"/>
            <a:r>
              <a:rPr sz="1200" b="0">
                <a:solidFill>
                  <a:srgbClr val="0B2545"/>
                </a:solidFill>
                <a:latin typeface="Calibri"/>
              </a:rPr>
              <a:t>Anything else degraded -&gt; degraded, because the audit trail and approval queue stay readable.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Evaluation</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Scored against a hand-written answer key, not a vibe check</a:t>
            </a:r>
          </a:p>
        </p:txBody>
      </p:sp>
      <p:sp>
        <p:nvSpPr>
          <p:cNvPr id="6" name="Rounded Rectangle 5"/>
          <p:cNvSpPr/>
          <p:nvPr/>
        </p:nvSpPr>
        <p:spPr>
          <a:xfrm>
            <a:off x="502920" y="1691640"/>
            <a:ext cx="2103120" cy="141732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p:txBody>
      </p:sp>
      <p:sp>
        <p:nvSpPr>
          <p:cNvPr id="7" name="TextBox 6"/>
          <p:cNvSpPr txBox="1"/>
          <p:nvPr/>
        </p:nvSpPr>
        <p:spPr>
          <a:xfrm>
            <a:off x="502920" y="1837944"/>
            <a:ext cx="2103120" cy="548640"/>
          </a:xfrm>
          <a:prstGeom prst="rect">
            <a:avLst/>
          </a:prstGeom>
          <a:noFill/>
        </p:spPr>
        <p:txBody>
          <a:bodyPr wrap="square">
            <a:spAutoFit/>
          </a:bodyPr>
          <a:lstStyle/>
          <a:p>
            <a:pPr algn="ctr"/>
            <a:r>
              <a:rPr sz="3000" b="1">
                <a:solidFill>
                  <a:srgbClr val="00A19A"/>
                </a:solidFill>
                <a:latin typeface="Calibri"/>
              </a:rPr>
              <a:t>95%</a:t>
            </a:r>
          </a:p>
        </p:txBody>
      </p:sp>
      <p:sp>
        <p:nvSpPr>
          <p:cNvPr id="8" name="TextBox 7"/>
          <p:cNvSpPr txBox="1"/>
          <p:nvPr/>
        </p:nvSpPr>
        <p:spPr>
          <a:xfrm>
            <a:off x="502920" y="2404872"/>
            <a:ext cx="2103120" cy="548640"/>
          </a:xfrm>
          <a:prstGeom prst="rect">
            <a:avLst/>
          </a:prstGeom>
          <a:noFill/>
        </p:spPr>
        <p:txBody>
          <a:bodyPr wrap="square">
            <a:spAutoFit/>
          </a:bodyPr>
          <a:lstStyle/>
          <a:p>
            <a:pPr algn="ctr"/>
            <a:r>
              <a:rPr sz="1100" b="0">
                <a:solidFill>
                  <a:srgbClr val="6B7A8B"/>
                </a:solidFill>
                <a:latin typeface="Calibri"/>
              </a:rPr>
              <a:t>Extraction</a:t>
            </a:r>
          </a:p>
          <a:p>
            <a:pPr algn="ctr"/>
            <a:r>
              <a:rPr sz="1100" b="0">
                <a:solidFill>
                  <a:srgbClr val="6B7A8B"/>
                </a:solidFill>
                <a:latin typeface="Calibri"/>
              </a:rPr>
              <a:t>field accuracy</a:t>
            </a:r>
          </a:p>
        </p:txBody>
      </p:sp>
      <p:sp>
        <p:nvSpPr>
          <p:cNvPr id="9" name="Rounded Rectangle 8"/>
          <p:cNvSpPr/>
          <p:nvPr/>
        </p:nvSpPr>
        <p:spPr>
          <a:xfrm>
            <a:off x="2788920" y="1691640"/>
            <a:ext cx="2103120" cy="141732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p:txBody>
      </p:sp>
      <p:sp>
        <p:nvSpPr>
          <p:cNvPr id="10" name="TextBox 9"/>
          <p:cNvSpPr txBox="1"/>
          <p:nvPr/>
        </p:nvSpPr>
        <p:spPr>
          <a:xfrm>
            <a:off x="2788920" y="1837944"/>
            <a:ext cx="2103120" cy="548640"/>
          </a:xfrm>
          <a:prstGeom prst="rect">
            <a:avLst/>
          </a:prstGeom>
          <a:noFill/>
        </p:spPr>
        <p:txBody>
          <a:bodyPr wrap="square">
            <a:spAutoFit/>
          </a:bodyPr>
          <a:lstStyle/>
          <a:p>
            <a:pPr algn="ctr"/>
            <a:r>
              <a:rPr sz="3000" b="1">
                <a:solidFill>
                  <a:srgbClr val="00A19A"/>
                </a:solidFill>
                <a:latin typeface="Calibri"/>
              </a:rPr>
              <a:t>100%</a:t>
            </a:r>
          </a:p>
        </p:txBody>
      </p:sp>
      <p:sp>
        <p:nvSpPr>
          <p:cNvPr id="11" name="TextBox 10"/>
          <p:cNvSpPr txBox="1"/>
          <p:nvPr/>
        </p:nvSpPr>
        <p:spPr>
          <a:xfrm>
            <a:off x="2788920" y="2404872"/>
            <a:ext cx="2103120" cy="548640"/>
          </a:xfrm>
          <a:prstGeom prst="rect">
            <a:avLst/>
          </a:prstGeom>
          <a:noFill/>
        </p:spPr>
        <p:txBody>
          <a:bodyPr wrap="square">
            <a:spAutoFit/>
          </a:bodyPr>
          <a:lstStyle/>
          <a:p>
            <a:pPr algn="ctr"/>
            <a:r>
              <a:rPr sz="1100" b="0">
                <a:solidFill>
                  <a:srgbClr val="6B7A8B"/>
                </a:solidFill>
                <a:latin typeface="Calibri"/>
              </a:rPr>
              <a:t>Line item</a:t>
            </a:r>
          </a:p>
          <a:p>
            <a:pPr algn="ctr"/>
            <a:r>
              <a:rPr sz="1100" b="0">
                <a:solidFill>
                  <a:srgbClr val="6B7A8B"/>
                </a:solidFill>
                <a:latin typeface="Calibri"/>
              </a:rPr>
              <a:t>accuracy</a:t>
            </a:r>
          </a:p>
        </p:txBody>
      </p:sp>
      <p:sp>
        <p:nvSpPr>
          <p:cNvPr id="12" name="Rounded Rectangle 11"/>
          <p:cNvSpPr/>
          <p:nvPr/>
        </p:nvSpPr>
        <p:spPr>
          <a:xfrm>
            <a:off x="5074920" y="1691640"/>
            <a:ext cx="2103120" cy="141732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p:txBody>
      </p:sp>
      <p:sp>
        <p:nvSpPr>
          <p:cNvPr id="13" name="TextBox 12"/>
          <p:cNvSpPr txBox="1"/>
          <p:nvPr/>
        </p:nvSpPr>
        <p:spPr>
          <a:xfrm>
            <a:off x="5074920" y="1837944"/>
            <a:ext cx="2103120" cy="548640"/>
          </a:xfrm>
          <a:prstGeom prst="rect">
            <a:avLst/>
          </a:prstGeom>
          <a:noFill/>
        </p:spPr>
        <p:txBody>
          <a:bodyPr wrap="square">
            <a:spAutoFit/>
          </a:bodyPr>
          <a:lstStyle/>
          <a:p>
            <a:pPr algn="ctr"/>
            <a:r>
              <a:rPr sz="3000" b="1">
                <a:solidFill>
                  <a:srgbClr val="0B2545"/>
                </a:solidFill>
                <a:latin typeface="Calibri"/>
              </a:rPr>
              <a:t>--</a:t>
            </a:r>
          </a:p>
        </p:txBody>
      </p:sp>
      <p:sp>
        <p:nvSpPr>
          <p:cNvPr id="14" name="TextBox 13"/>
          <p:cNvSpPr txBox="1"/>
          <p:nvPr/>
        </p:nvSpPr>
        <p:spPr>
          <a:xfrm>
            <a:off x="5074920" y="2404872"/>
            <a:ext cx="2103120" cy="548640"/>
          </a:xfrm>
          <a:prstGeom prst="rect">
            <a:avLst/>
          </a:prstGeom>
          <a:noFill/>
        </p:spPr>
        <p:txBody>
          <a:bodyPr wrap="square">
            <a:spAutoFit/>
          </a:bodyPr>
          <a:lstStyle/>
          <a:p>
            <a:pPr algn="ctr"/>
            <a:r>
              <a:rPr sz="1100" b="0">
                <a:solidFill>
                  <a:srgbClr val="6B7A8B"/>
                </a:solidFill>
                <a:latin typeface="Calibri"/>
              </a:rPr>
              <a:t>Match</a:t>
            </a:r>
          </a:p>
          <a:p>
            <a:pPr algn="ctr"/>
            <a:r>
              <a:rPr sz="1100" b="0">
                <a:solidFill>
                  <a:srgbClr val="6B7A8B"/>
                </a:solidFill>
                <a:latin typeface="Calibri"/>
              </a:rPr>
              <a:t>rate</a:t>
            </a:r>
          </a:p>
        </p:txBody>
      </p:sp>
      <p:sp>
        <p:nvSpPr>
          <p:cNvPr id="15" name="Rounded Rectangle 14"/>
          <p:cNvSpPr/>
          <p:nvPr/>
        </p:nvSpPr>
        <p:spPr>
          <a:xfrm>
            <a:off x="7360920" y="1691640"/>
            <a:ext cx="2103120" cy="141732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p:txBody>
      </p:sp>
      <p:sp>
        <p:nvSpPr>
          <p:cNvPr id="16" name="TextBox 15"/>
          <p:cNvSpPr txBox="1"/>
          <p:nvPr/>
        </p:nvSpPr>
        <p:spPr>
          <a:xfrm>
            <a:off x="7360920" y="1837944"/>
            <a:ext cx="2103120" cy="548640"/>
          </a:xfrm>
          <a:prstGeom prst="rect">
            <a:avLst/>
          </a:prstGeom>
          <a:noFill/>
        </p:spPr>
        <p:txBody>
          <a:bodyPr wrap="square">
            <a:spAutoFit/>
          </a:bodyPr>
          <a:lstStyle/>
          <a:p>
            <a:pPr algn="ctr"/>
            <a:r>
              <a:rPr sz="3000" b="1">
                <a:solidFill>
                  <a:srgbClr val="E88B2F"/>
                </a:solidFill>
                <a:latin typeface="Calibri"/>
              </a:rPr>
              <a:t>--</a:t>
            </a:r>
          </a:p>
        </p:txBody>
      </p:sp>
      <p:sp>
        <p:nvSpPr>
          <p:cNvPr id="17" name="TextBox 16"/>
          <p:cNvSpPr txBox="1"/>
          <p:nvPr/>
        </p:nvSpPr>
        <p:spPr>
          <a:xfrm>
            <a:off x="7360920" y="2404872"/>
            <a:ext cx="2103120" cy="548640"/>
          </a:xfrm>
          <a:prstGeom prst="rect">
            <a:avLst/>
          </a:prstGeom>
          <a:noFill/>
        </p:spPr>
        <p:txBody>
          <a:bodyPr wrap="square">
            <a:spAutoFit/>
          </a:bodyPr>
          <a:lstStyle/>
          <a:p>
            <a:pPr algn="ctr"/>
            <a:r>
              <a:rPr sz="1100" b="0">
                <a:solidFill>
                  <a:srgbClr val="6B7A8B"/>
                </a:solidFill>
                <a:latin typeface="Calibri"/>
              </a:rPr>
              <a:t>Exception</a:t>
            </a:r>
          </a:p>
          <a:p>
            <a:pPr algn="ctr"/>
            <a:r>
              <a:rPr sz="1100" b="0">
                <a:solidFill>
                  <a:srgbClr val="6B7A8B"/>
                </a:solidFill>
                <a:latin typeface="Calibri"/>
              </a:rPr>
              <a:t>detection rate</a:t>
            </a:r>
          </a:p>
        </p:txBody>
      </p:sp>
      <p:sp>
        <p:nvSpPr>
          <p:cNvPr id="18" name="Rounded Rectangle 17"/>
          <p:cNvSpPr/>
          <p:nvPr/>
        </p:nvSpPr>
        <p:spPr>
          <a:xfrm>
            <a:off x="9646920" y="1691640"/>
            <a:ext cx="2103120" cy="141732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p:txBody>
      </p:sp>
      <p:sp>
        <p:nvSpPr>
          <p:cNvPr id="19" name="TextBox 18"/>
          <p:cNvSpPr txBox="1"/>
          <p:nvPr/>
        </p:nvSpPr>
        <p:spPr>
          <a:xfrm>
            <a:off x="9646920" y="1837944"/>
            <a:ext cx="2103120" cy="548640"/>
          </a:xfrm>
          <a:prstGeom prst="rect">
            <a:avLst/>
          </a:prstGeom>
          <a:noFill/>
        </p:spPr>
        <p:txBody>
          <a:bodyPr wrap="square">
            <a:spAutoFit/>
          </a:bodyPr>
          <a:lstStyle/>
          <a:p>
            <a:pPr algn="ctr"/>
            <a:r>
              <a:rPr sz="3000" b="1">
                <a:solidFill>
                  <a:srgbClr val="0B2545"/>
                </a:solidFill>
                <a:latin typeface="Calibri"/>
              </a:rPr>
              <a:t>--</a:t>
            </a:r>
          </a:p>
        </p:txBody>
      </p:sp>
      <p:sp>
        <p:nvSpPr>
          <p:cNvPr id="20" name="TextBox 19"/>
          <p:cNvSpPr txBox="1"/>
          <p:nvPr/>
        </p:nvSpPr>
        <p:spPr>
          <a:xfrm>
            <a:off x="9646920" y="2404872"/>
            <a:ext cx="2103120" cy="548640"/>
          </a:xfrm>
          <a:prstGeom prst="rect">
            <a:avLst/>
          </a:prstGeom>
          <a:noFill/>
        </p:spPr>
        <p:txBody>
          <a:bodyPr wrap="square">
            <a:spAutoFit/>
          </a:bodyPr>
          <a:lstStyle/>
          <a:p>
            <a:pPr algn="ctr"/>
            <a:r>
              <a:rPr sz="1100" b="0">
                <a:solidFill>
                  <a:srgbClr val="6B7A8B"/>
                </a:solidFill>
                <a:latin typeface="Calibri"/>
              </a:rPr>
              <a:t>Straight-through</a:t>
            </a:r>
          </a:p>
          <a:p>
            <a:pPr algn="ctr"/>
            <a:r>
              <a:rPr sz="1100" b="0">
                <a:solidFill>
                  <a:srgbClr val="6B7A8B"/>
                </a:solidFill>
                <a:latin typeface="Calibri"/>
              </a:rPr>
              <a:t>rate</a:t>
            </a:r>
          </a:p>
        </p:txBody>
      </p:sp>
      <p:sp>
        <p:nvSpPr>
          <p:cNvPr id="21" name="TextBox 20"/>
          <p:cNvSpPr txBox="1"/>
          <p:nvPr/>
        </p:nvSpPr>
        <p:spPr>
          <a:xfrm>
            <a:off x="548640" y="3246120"/>
            <a:ext cx="11155680" cy="320040"/>
          </a:xfrm>
          <a:prstGeom prst="rect">
            <a:avLst/>
          </a:prstGeom>
          <a:noFill/>
        </p:spPr>
        <p:txBody>
          <a:bodyPr wrap="square">
            <a:spAutoFit/>
          </a:bodyPr>
          <a:lstStyle/>
          <a:p>
            <a:pPr algn="l"/>
            <a:r>
              <a:rPr sz="1100" b="0">
                <a:solidFill>
                  <a:srgbClr val="6B7A8B"/>
                </a:solidFill>
                <a:latin typeface="Calibri"/>
              </a:rPr>
              <a:t>7 of 7 sample documents scored, 0 failed  |  mode: extraction  |  model: llama3.1:8b via Ollama    (--  measured only in e2e mode, against the running stack)</a:t>
            </a:r>
          </a:p>
        </p:txBody>
      </p:sp>
      <p:sp>
        <p:nvSpPr>
          <p:cNvPr id="22" name="Oval 21"/>
          <p:cNvSpPr/>
          <p:nvPr/>
        </p:nvSpPr>
        <p:spPr>
          <a:xfrm>
            <a:off x="640080" y="3785615"/>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3675887"/>
            <a:ext cx="5431536" cy="1051560"/>
          </a:xfrm>
          <a:prstGeom prst="rect">
            <a:avLst/>
          </a:prstGeom>
          <a:noFill/>
        </p:spPr>
        <p:txBody>
          <a:bodyPr wrap="square">
            <a:spAutoFit/>
          </a:bodyPr>
          <a:lstStyle/>
          <a:p>
            <a:pPr algn="l"/>
            <a:r>
              <a:rPr sz="1300" b="0">
                <a:solidFill>
                  <a:srgbClr val="334455"/>
                </a:solidFill>
                <a:latin typeface="Calibri"/>
              </a:rPr>
              <a:t>Seven documents covering a clean three-way match, a clean two-way match, a price variance, a goods-receipt shortfall, an unknown vendor with no PO, a duplicate resubmission, and an invoice above the auto-post ceiling.</a:t>
            </a:r>
          </a:p>
        </p:txBody>
      </p:sp>
      <p:sp>
        <p:nvSpPr>
          <p:cNvPr id="24" name="Oval 23"/>
          <p:cNvSpPr/>
          <p:nvPr/>
        </p:nvSpPr>
        <p:spPr>
          <a:xfrm>
            <a:off x="640080" y="4837175"/>
            <a:ext cx="100584" cy="100584"/>
          </a:xfrm>
          <a:prstGeom prst="ellipse">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4727447"/>
            <a:ext cx="5431536" cy="1051560"/>
          </a:xfrm>
          <a:prstGeom prst="rect">
            <a:avLst/>
          </a:prstGeom>
          <a:noFill/>
        </p:spPr>
        <p:txBody>
          <a:bodyPr wrap="square">
            <a:spAutoFit/>
          </a:bodyPr>
          <a:lstStyle/>
          <a:p>
            <a:pPr algn="l"/>
            <a:r>
              <a:rPr sz="1300" b="0">
                <a:solidFill>
                  <a:srgbClr val="334455"/>
                </a:solidFill>
                <a:latin typeface="Calibri"/>
              </a:rPr>
              <a:t>Per-field accuracy is reported field by field, so a systematically weak field is visible rather than averaged away.</a:t>
            </a:r>
          </a:p>
        </p:txBody>
      </p:sp>
      <p:sp>
        <p:nvSpPr>
          <p:cNvPr id="26" name="Rounded Rectangle 25"/>
          <p:cNvSpPr/>
          <p:nvPr/>
        </p:nvSpPr>
        <p:spPr>
          <a:xfrm>
            <a:off x="6675120" y="3703320"/>
            <a:ext cx="4983480" cy="2103120"/>
          </a:xfrm>
          <a:prstGeom prst="roundRect">
            <a:avLst/>
          </a:prstGeom>
          <a:solidFill>
            <a:srgbClr val="FDF3E4"/>
          </a:solidFill>
          <a:ln w="127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0B2545"/>
                </a:solidFill>
                <a:latin typeface="Calibri"/>
              </a:rPr>
              <a:t>Exception detection rate is the number that matters most.</a:t>
            </a:r>
          </a:p>
          <a:p>
            <a:pPr algn="ctr"/>
          </a:p>
          <a:p>
            <a:pPr algn="ctr"/>
            <a:r>
              <a:rPr sz="1300" b="0">
                <a:solidFill>
                  <a:srgbClr val="0B2545"/>
                </a:solidFill>
                <a:latin typeface="Calibri"/>
              </a:rPr>
              <a:t>A missed variance is an incorrect payment. A false exception only costs a human a minute. The tolerances are tuned accordingly - the engine is built to over-escalate rather than over-pay.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Deployment</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One command, seven services, ordered by health not by sleep</a:t>
            </a:r>
          </a:p>
        </p:txBody>
      </p:sp>
      <p:sp>
        <p:nvSpPr>
          <p:cNvPr id="6" name="Rounded Rectangle 5"/>
          <p:cNvSpPr/>
          <p:nvPr/>
        </p:nvSpPr>
        <p:spPr>
          <a:xfrm>
            <a:off x="502920" y="1691640"/>
            <a:ext cx="6766560" cy="384048"/>
          </a:xfrm>
          <a:prstGeom prst="roundRect">
            <a:avLst/>
          </a:prstGeom>
          <a:solidFill>
            <a:srgbClr val="0B2545"/>
          </a:solidFill>
          <a:ln w="1270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7" name="TextBox 6"/>
          <p:cNvSpPr txBox="1"/>
          <p:nvPr/>
        </p:nvSpPr>
        <p:spPr>
          <a:xfrm>
            <a:off x="640080" y="1728216"/>
            <a:ext cx="1828800" cy="310896"/>
          </a:xfrm>
          <a:prstGeom prst="rect">
            <a:avLst/>
          </a:prstGeom>
          <a:noFill/>
        </p:spPr>
        <p:txBody>
          <a:bodyPr wrap="square">
            <a:spAutoFit/>
          </a:bodyPr>
          <a:lstStyle/>
          <a:p>
            <a:pPr algn="l"/>
            <a:r>
              <a:rPr sz="1100" b="1">
                <a:solidFill>
                  <a:srgbClr val="FFFFFF"/>
                </a:solidFill>
                <a:latin typeface="Calibri"/>
              </a:rPr>
              <a:t>SERVICE</a:t>
            </a:r>
          </a:p>
        </p:txBody>
      </p:sp>
      <p:sp>
        <p:nvSpPr>
          <p:cNvPr id="8" name="TextBox 7"/>
          <p:cNvSpPr txBox="1"/>
          <p:nvPr/>
        </p:nvSpPr>
        <p:spPr>
          <a:xfrm>
            <a:off x="2560320" y="1728216"/>
            <a:ext cx="2194560" cy="310896"/>
          </a:xfrm>
          <a:prstGeom prst="rect">
            <a:avLst/>
          </a:prstGeom>
          <a:noFill/>
        </p:spPr>
        <p:txBody>
          <a:bodyPr wrap="square">
            <a:spAutoFit/>
          </a:bodyPr>
          <a:lstStyle/>
          <a:p>
            <a:pPr algn="l"/>
            <a:r>
              <a:rPr sz="1100" b="1">
                <a:solidFill>
                  <a:srgbClr val="FFFFFF"/>
                </a:solidFill>
                <a:latin typeface="Calibri"/>
              </a:rPr>
              <a:t>IMAGE</a:t>
            </a:r>
          </a:p>
        </p:txBody>
      </p:sp>
      <p:sp>
        <p:nvSpPr>
          <p:cNvPr id="9" name="TextBox 8"/>
          <p:cNvSpPr txBox="1"/>
          <p:nvPr/>
        </p:nvSpPr>
        <p:spPr>
          <a:xfrm>
            <a:off x="4846320" y="1728216"/>
            <a:ext cx="2286000" cy="310896"/>
          </a:xfrm>
          <a:prstGeom prst="rect">
            <a:avLst/>
          </a:prstGeom>
          <a:noFill/>
        </p:spPr>
        <p:txBody>
          <a:bodyPr wrap="square">
            <a:spAutoFit/>
          </a:bodyPr>
          <a:lstStyle/>
          <a:p>
            <a:pPr algn="l"/>
            <a:r>
              <a:rPr sz="1100" b="1">
                <a:solidFill>
                  <a:srgbClr val="FFFFFF"/>
                </a:solidFill>
                <a:latin typeface="Calibri"/>
              </a:rPr>
              <a:t>ROLE</a:t>
            </a:r>
          </a:p>
        </p:txBody>
      </p:sp>
      <p:sp>
        <p:nvSpPr>
          <p:cNvPr id="10" name="Rectangle 9"/>
          <p:cNvSpPr/>
          <p:nvPr/>
        </p:nvSpPr>
        <p:spPr>
          <a:xfrm>
            <a:off x="502920" y="2121408"/>
            <a:ext cx="6766560" cy="420624"/>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1" name="TextBox 10"/>
          <p:cNvSpPr txBox="1"/>
          <p:nvPr/>
        </p:nvSpPr>
        <p:spPr>
          <a:xfrm>
            <a:off x="640080" y="2185415"/>
            <a:ext cx="1920240" cy="310896"/>
          </a:xfrm>
          <a:prstGeom prst="rect">
            <a:avLst/>
          </a:prstGeom>
          <a:noFill/>
        </p:spPr>
        <p:txBody>
          <a:bodyPr wrap="square">
            <a:spAutoFit/>
          </a:bodyPr>
          <a:lstStyle/>
          <a:p>
            <a:pPr algn="l"/>
            <a:r>
              <a:rPr sz="1100" b="1">
                <a:solidFill>
                  <a:srgbClr val="0B2545"/>
                </a:solidFill>
                <a:latin typeface="Calibri"/>
              </a:rPr>
              <a:t>postgres</a:t>
            </a:r>
          </a:p>
        </p:txBody>
      </p:sp>
      <p:sp>
        <p:nvSpPr>
          <p:cNvPr id="12" name="TextBox 11"/>
          <p:cNvSpPr txBox="1"/>
          <p:nvPr/>
        </p:nvSpPr>
        <p:spPr>
          <a:xfrm>
            <a:off x="2560320" y="2185415"/>
            <a:ext cx="2286000" cy="310896"/>
          </a:xfrm>
          <a:prstGeom prst="rect">
            <a:avLst/>
          </a:prstGeom>
          <a:noFill/>
        </p:spPr>
        <p:txBody>
          <a:bodyPr wrap="square">
            <a:spAutoFit/>
          </a:bodyPr>
          <a:lstStyle/>
          <a:p>
            <a:pPr algn="l"/>
            <a:r>
              <a:rPr sz="1000" b="0">
                <a:solidFill>
                  <a:srgbClr val="6B7A8B"/>
                </a:solidFill>
                <a:latin typeface="Calibri"/>
              </a:rPr>
              <a:t>pgvector/pgvector:pg16</a:t>
            </a:r>
          </a:p>
        </p:txBody>
      </p:sp>
      <p:sp>
        <p:nvSpPr>
          <p:cNvPr id="13" name="TextBox 12"/>
          <p:cNvSpPr txBox="1"/>
          <p:nvPr/>
        </p:nvSpPr>
        <p:spPr>
          <a:xfrm>
            <a:off x="4846320" y="2185415"/>
            <a:ext cx="2377440" cy="310896"/>
          </a:xfrm>
          <a:prstGeom prst="rect">
            <a:avLst/>
          </a:prstGeom>
          <a:noFill/>
        </p:spPr>
        <p:txBody>
          <a:bodyPr wrap="square">
            <a:spAutoFit/>
          </a:bodyPr>
          <a:lstStyle/>
          <a:p>
            <a:pPr algn="l"/>
            <a:r>
              <a:rPr sz="1000" b="0">
                <a:solidFill>
                  <a:srgbClr val="334455"/>
                </a:solidFill>
                <a:latin typeface="Calibri"/>
              </a:rPr>
              <a:t>state + embeddings + checkpoints</a:t>
            </a:r>
          </a:p>
        </p:txBody>
      </p:sp>
      <p:sp>
        <p:nvSpPr>
          <p:cNvPr id="14" name="Rectangle 13"/>
          <p:cNvSpPr/>
          <p:nvPr/>
        </p:nvSpPr>
        <p:spPr>
          <a:xfrm>
            <a:off x="502920" y="2542032"/>
            <a:ext cx="6766560" cy="420624"/>
          </a:xfrm>
          <a:prstGeom prst="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5" name="TextBox 14"/>
          <p:cNvSpPr txBox="1"/>
          <p:nvPr/>
        </p:nvSpPr>
        <p:spPr>
          <a:xfrm>
            <a:off x="640080" y="2606039"/>
            <a:ext cx="1920240" cy="310896"/>
          </a:xfrm>
          <a:prstGeom prst="rect">
            <a:avLst/>
          </a:prstGeom>
          <a:noFill/>
        </p:spPr>
        <p:txBody>
          <a:bodyPr wrap="square">
            <a:spAutoFit/>
          </a:bodyPr>
          <a:lstStyle/>
          <a:p>
            <a:pPr algn="l"/>
            <a:r>
              <a:rPr sz="1100" b="1">
                <a:solidFill>
                  <a:srgbClr val="0B2545"/>
                </a:solidFill>
                <a:latin typeface="Calibri"/>
              </a:rPr>
              <a:t>ollama</a:t>
            </a:r>
          </a:p>
        </p:txBody>
      </p:sp>
      <p:sp>
        <p:nvSpPr>
          <p:cNvPr id="16" name="TextBox 15"/>
          <p:cNvSpPr txBox="1"/>
          <p:nvPr/>
        </p:nvSpPr>
        <p:spPr>
          <a:xfrm>
            <a:off x="2560320" y="2606039"/>
            <a:ext cx="2286000" cy="310896"/>
          </a:xfrm>
          <a:prstGeom prst="rect">
            <a:avLst/>
          </a:prstGeom>
          <a:noFill/>
        </p:spPr>
        <p:txBody>
          <a:bodyPr wrap="square">
            <a:spAutoFit/>
          </a:bodyPr>
          <a:lstStyle/>
          <a:p>
            <a:pPr algn="l"/>
            <a:r>
              <a:rPr sz="1000" b="0">
                <a:solidFill>
                  <a:srgbClr val="6B7A8B"/>
                </a:solidFill>
                <a:latin typeface="Calibri"/>
              </a:rPr>
              <a:t>ollama/ollama</a:t>
            </a:r>
          </a:p>
        </p:txBody>
      </p:sp>
      <p:sp>
        <p:nvSpPr>
          <p:cNvPr id="17" name="TextBox 16"/>
          <p:cNvSpPr txBox="1"/>
          <p:nvPr/>
        </p:nvSpPr>
        <p:spPr>
          <a:xfrm>
            <a:off x="4846320" y="2606039"/>
            <a:ext cx="2377440" cy="310896"/>
          </a:xfrm>
          <a:prstGeom prst="rect">
            <a:avLst/>
          </a:prstGeom>
          <a:noFill/>
        </p:spPr>
        <p:txBody>
          <a:bodyPr wrap="square">
            <a:spAutoFit/>
          </a:bodyPr>
          <a:lstStyle/>
          <a:p>
            <a:pPr algn="l"/>
            <a:r>
              <a:rPr sz="1000" b="0">
                <a:solidFill>
                  <a:srgbClr val="334455"/>
                </a:solidFill>
                <a:latin typeface="Calibri"/>
              </a:rPr>
              <a:t>llama3.1:8b, nomic-embed-text</a:t>
            </a:r>
          </a:p>
        </p:txBody>
      </p:sp>
      <p:sp>
        <p:nvSpPr>
          <p:cNvPr id="18" name="Rectangle 17"/>
          <p:cNvSpPr/>
          <p:nvPr/>
        </p:nvSpPr>
        <p:spPr>
          <a:xfrm>
            <a:off x="502920" y="2962656"/>
            <a:ext cx="6766560" cy="420624"/>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9" name="TextBox 18"/>
          <p:cNvSpPr txBox="1"/>
          <p:nvPr/>
        </p:nvSpPr>
        <p:spPr>
          <a:xfrm>
            <a:off x="640080" y="3026663"/>
            <a:ext cx="1920240" cy="310896"/>
          </a:xfrm>
          <a:prstGeom prst="rect">
            <a:avLst/>
          </a:prstGeom>
          <a:noFill/>
        </p:spPr>
        <p:txBody>
          <a:bodyPr wrap="square">
            <a:spAutoFit/>
          </a:bodyPr>
          <a:lstStyle/>
          <a:p>
            <a:pPr algn="l"/>
            <a:r>
              <a:rPr sz="1100" b="1">
                <a:solidFill>
                  <a:srgbClr val="0B2545"/>
                </a:solidFill>
                <a:latin typeface="Calibri"/>
              </a:rPr>
              <a:t>ollama-init</a:t>
            </a:r>
          </a:p>
        </p:txBody>
      </p:sp>
      <p:sp>
        <p:nvSpPr>
          <p:cNvPr id="20" name="TextBox 19"/>
          <p:cNvSpPr txBox="1"/>
          <p:nvPr/>
        </p:nvSpPr>
        <p:spPr>
          <a:xfrm>
            <a:off x="2560320" y="3026663"/>
            <a:ext cx="2286000" cy="310896"/>
          </a:xfrm>
          <a:prstGeom prst="rect">
            <a:avLst/>
          </a:prstGeom>
          <a:noFill/>
        </p:spPr>
        <p:txBody>
          <a:bodyPr wrap="square">
            <a:spAutoFit/>
          </a:bodyPr>
          <a:lstStyle/>
          <a:p>
            <a:pPr algn="l"/>
            <a:r>
              <a:rPr sz="1000" b="0">
                <a:solidFill>
                  <a:srgbClr val="6B7A8B"/>
                </a:solidFill>
                <a:latin typeface="Calibri"/>
              </a:rPr>
              <a:t>one-shot</a:t>
            </a:r>
          </a:p>
        </p:txBody>
      </p:sp>
      <p:sp>
        <p:nvSpPr>
          <p:cNvPr id="21" name="TextBox 20"/>
          <p:cNvSpPr txBox="1"/>
          <p:nvPr/>
        </p:nvSpPr>
        <p:spPr>
          <a:xfrm>
            <a:off x="4846320" y="3026663"/>
            <a:ext cx="2377440" cy="310896"/>
          </a:xfrm>
          <a:prstGeom prst="rect">
            <a:avLst/>
          </a:prstGeom>
          <a:noFill/>
        </p:spPr>
        <p:txBody>
          <a:bodyPr wrap="square">
            <a:spAutoFit/>
          </a:bodyPr>
          <a:lstStyle/>
          <a:p>
            <a:pPr algn="l"/>
            <a:r>
              <a:rPr sz="1000" b="0">
                <a:solidFill>
                  <a:srgbClr val="334455"/>
                </a:solidFill>
                <a:latin typeface="Calibri"/>
              </a:rPr>
              <a:t>pulls models, then exits</a:t>
            </a:r>
          </a:p>
        </p:txBody>
      </p:sp>
      <p:sp>
        <p:nvSpPr>
          <p:cNvPr id="22" name="Rectangle 21"/>
          <p:cNvSpPr/>
          <p:nvPr/>
        </p:nvSpPr>
        <p:spPr>
          <a:xfrm>
            <a:off x="502920" y="3383280"/>
            <a:ext cx="6766560" cy="420624"/>
          </a:xfrm>
          <a:prstGeom prst="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3" name="TextBox 22"/>
          <p:cNvSpPr txBox="1"/>
          <p:nvPr/>
        </p:nvSpPr>
        <p:spPr>
          <a:xfrm>
            <a:off x="640080" y="3447288"/>
            <a:ext cx="1920240" cy="310896"/>
          </a:xfrm>
          <a:prstGeom prst="rect">
            <a:avLst/>
          </a:prstGeom>
          <a:noFill/>
        </p:spPr>
        <p:txBody>
          <a:bodyPr wrap="square">
            <a:spAutoFit/>
          </a:bodyPr>
          <a:lstStyle/>
          <a:p>
            <a:pPr algn="l"/>
            <a:r>
              <a:rPr sz="1100" b="1">
                <a:solidFill>
                  <a:srgbClr val="0B2545"/>
                </a:solidFill>
                <a:latin typeface="Calibri"/>
              </a:rPr>
              <a:t>phoenix</a:t>
            </a:r>
          </a:p>
        </p:txBody>
      </p:sp>
      <p:sp>
        <p:nvSpPr>
          <p:cNvPr id="24" name="TextBox 23"/>
          <p:cNvSpPr txBox="1"/>
          <p:nvPr/>
        </p:nvSpPr>
        <p:spPr>
          <a:xfrm>
            <a:off x="2560320" y="3447288"/>
            <a:ext cx="2286000" cy="310896"/>
          </a:xfrm>
          <a:prstGeom prst="rect">
            <a:avLst/>
          </a:prstGeom>
          <a:noFill/>
        </p:spPr>
        <p:txBody>
          <a:bodyPr wrap="square">
            <a:spAutoFit/>
          </a:bodyPr>
          <a:lstStyle/>
          <a:p>
            <a:pPr algn="l"/>
            <a:r>
              <a:rPr sz="1000" b="0">
                <a:solidFill>
                  <a:srgbClr val="6B7A8B"/>
                </a:solidFill>
                <a:latin typeface="Calibri"/>
              </a:rPr>
              <a:t>arizephoenix/phoenix</a:t>
            </a:r>
          </a:p>
        </p:txBody>
      </p:sp>
      <p:sp>
        <p:nvSpPr>
          <p:cNvPr id="25" name="TextBox 24"/>
          <p:cNvSpPr txBox="1"/>
          <p:nvPr/>
        </p:nvSpPr>
        <p:spPr>
          <a:xfrm>
            <a:off x="4846320" y="3447288"/>
            <a:ext cx="2377440" cy="310896"/>
          </a:xfrm>
          <a:prstGeom prst="rect">
            <a:avLst/>
          </a:prstGeom>
          <a:noFill/>
        </p:spPr>
        <p:txBody>
          <a:bodyPr wrap="square">
            <a:spAutoFit/>
          </a:bodyPr>
          <a:lstStyle/>
          <a:p>
            <a:pPr algn="l"/>
            <a:r>
              <a:rPr sz="1000" b="0">
                <a:solidFill>
                  <a:srgbClr val="334455"/>
                </a:solidFill>
                <a:latin typeface="Calibri"/>
              </a:rPr>
              <a:t>trace collector and UI</a:t>
            </a:r>
          </a:p>
        </p:txBody>
      </p:sp>
      <p:sp>
        <p:nvSpPr>
          <p:cNvPr id="26" name="Rectangle 25"/>
          <p:cNvSpPr/>
          <p:nvPr/>
        </p:nvSpPr>
        <p:spPr>
          <a:xfrm>
            <a:off x="502920" y="3803904"/>
            <a:ext cx="6766560" cy="420624"/>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7" name="TextBox 26"/>
          <p:cNvSpPr txBox="1"/>
          <p:nvPr/>
        </p:nvSpPr>
        <p:spPr>
          <a:xfrm>
            <a:off x="640080" y="3867912"/>
            <a:ext cx="1920240" cy="310896"/>
          </a:xfrm>
          <a:prstGeom prst="rect">
            <a:avLst/>
          </a:prstGeom>
          <a:noFill/>
        </p:spPr>
        <p:txBody>
          <a:bodyPr wrap="square">
            <a:spAutoFit/>
          </a:bodyPr>
          <a:lstStyle/>
          <a:p>
            <a:pPr algn="l"/>
            <a:r>
              <a:rPr sz="1100" b="1">
                <a:solidFill>
                  <a:srgbClr val="0B2545"/>
                </a:solidFill>
                <a:latin typeface="Calibri"/>
              </a:rPr>
              <a:t>mock-erp</a:t>
            </a:r>
          </a:p>
        </p:txBody>
      </p:sp>
      <p:sp>
        <p:nvSpPr>
          <p:cNvPr id="28" name="TextBox 27"/>
          <p:cNvSpPr txBox="1"/>
          <p:nvPr/>
        </p:nvSpPr>
        <p:spPr>
          <a:xfrm>
            <a:off x="2560320" y="3867912"/>
            <a:ext cx="2286000" cy="310896"/>
          </a:xfrm>
          <a:prstGeom prst="rect">
            <a:avLst/>
          </a:prstGeom>
          <a:noFill/>
        </p:spPr>
        <p:txBody>
          <a:bodyPr wrap="square">
            <a:spAutoFit/>
          </a:bodyPr>
          <a:lstStyle/>
          <a:p>
            <a:pPr algn="l"/>
            <a:r>
              <a:rPr sz="1000" b="0">
                <a:solidFill>
                  <a:srgbClr val="6B7A8B"/>
                </a:solidFill>
                <a:latin typeface="Calibri"/>
              </a:rPr>
              <a:t>built from repo</a:t>
            </a:r>
          </a:p>
        </p:txBody>
      </p:sp>
      <p:sp>
        <p:nvSpPr>
          <p:cNvPr id="29" name="TextBox 28"/>
          <p:cNvSpPr txBox="1"/>
          <p:nvPr/>
        </p:nvSpPr>
        <p:spPr>
          <a:xfrm>
            <a:off x="4846320" y="3867912"/>
            <a:ext cx="2377440" cy="310896"/>
          </a:xfrm>
          <a:prstGeom prst="rect">
            <a:avLst/>
          </a:prstGeom>
          <a:noFill/>
        </p:spPr>
        <p:txBody>
          <a:bodyPr wrap="square">
            <a:spAutoFit/>
          </a:bodyPr>
          <a:lstStyle/>
          <a:p>
            <a:pPr algn="l"/>
            <a:r>
              <a:rPr sz="1000" b="0">
                <a:solidFill>
                  <a:srgbClr val="334455"/>
                </a:solidFill>
                <a:latin typeface="Calibri"/>
              </a:rPr>
              <a:t>POs, GRs, vendors, journals, AR</a:t>
            </a:r>
          </a:p>
        </p:txBody>
      </p:sp>
      <p:sp>
        <p:nvSpPr>
          <p:cNvPr id="30" name="Rectangle 29"/>
          <p:cNvSpPr/>
          <p:nvPr/>
        </p:nvSpPr>
        <p:spPr>
          <a:xfrm>
            <a:off x="502920" y="4224528"/>
            <a:ext cx="6766560" cy="420624"/>
          </a:xfrm>
          <a:prstGeom prst="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1" name="TextBox 30"/>
          <p:cNvSpPr txBox="1"/>
          <p:nvPr/>
        </p:nvSpPr>
        <p:spPr>
          <a:xfrm>
            <a:off x="640080" y="4288536"/>
            <a:ext cx="1920240" cy="310896"/>
          </a:xfrm>
          <a:prstGeom prst="rect">
            <a:avLst/>
          </a:prstGeom>
          <a:noFill/>
        </p:spPr>
        <p:txBody>
          <a:bodyPr wrap="square">
            <a:spAutoFit/>
          </a:bodyPr>
          <a:lstStyle/>
          <a:p>
            <a:pPr algn="l"/>
            <a:r>
              <a:rPr sz="1100" b="1">
                <a:solidFill>
                  <a:srgbClr val="0B2545"/>
                </a:solidFill>
                <a:latin typeface="Calibri"/>
              </a:rPr>
              <a:t>migrate</a:t>
            </a:r>
          </a:p>
        </p:txBody>
      </p:sp>
      <p:sp>
        <p:nvSpPr>
          <p:cNvPr id="32" name="TextBox 31"/>
          <p:cNvSpPr txBox="1"/>
          <p:nvPr/>
        </p:nvSpPr>
        <p:spPr>
          <a:xfrm>
            <a:off x="2560320" y="4288536"/>
            <a:ext cx="2286000" cy="310896"/>
          </a:xfrm>
          <a:prstGeom prst="rect">
            <a:avLst/>
          </a:prstGeom>
          <a:noFill/>
        </p:spPr>
        <p:txBody>
          <a:bodyPr wrap="square">
            <a:spAutoFit/>
          </a:bodyPr>
          <a:lstStyle/>
          <a:p>
            <a:pPr algn="l"/>
            <a:r>
              <a:rPr sz="1000" b="0">
                <a:solidFill>
                  <a:srgbClr val="6B7A8B"/>
                </a:solidFill>
                <a:latin typeface="Calibri"/>
              </a:rPr>
              <a:t>one-shot</a:t>
            </a:r>
          </a:p>
        </p:txBody>
      </p:sp>
      <p:sp>
        <p:nvSpPr>
          <p:cNvPr id="33" name="TextBox 32"/>
          <p:cNvSpPr txBox="1"/>
          <p:nvPr/>
        </p:nvSpPr>
        <p:spPr>
          <a:xfrm>
            <a:off x="4846320" y="4288536"/>
            <a:ext cx="2377440" cy="310896"/>
          </a:xfrm>
          <a:prstGeom prst="rect">
            <a:avLst/>
          </a:prstGeom>
          <a:noFill/>
        </p:spPr>
        <p:txBody>
          <a:bodyPr wrap="square">
            <a:spAutoFit/>
          </a:bodyPr>
          <a:lstStyle/>
          <a:p>
            <a:pPr algn="l"/>
            <a:r>
              <a:rPr sz="1000" b="0">
                <a:solidFill>
                  <a:srgbClr val="334455"/>
                </a:solidFill>
                <a:latin typeface="Calibri"/>
              </a:rPr>
              <a:t>alembic upgrade head</a:t>
            </a:r>
          </a:p>
        </p:txBody>
      </p:sp>
      <p:sp>
        <p:nvSpPr>
          <p:cNvPr id="34" name="Rectangle 33"/>
          <p:cNvSpPr/>
          <p:nvPr/>
        </p:nvSpPr>
        <p:spPr>
          <a:xfrm>
            <a:off x="502920" y="4645152"/>
            <a:ext cx="6766560" cy="420624"/>
          </a:xfrm>
          <a:prstGeom prst="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5" name="TextBox 34"/>
          <p:cNvSpPr txBox="1"/>
          <p:nvPr/>
        </p:nvSpPr>
        <p:spPr>
          <a:xfrm>
            <a:off x="640080" y="4709160"/>
            <a:ext cx="1920240" cy="310896"/>
          </a:xfrm>
          <a:prstGeom prst="rect">
            <a:avLst/>
          </a:prstGeom>
          <a:noFill/>
        </p:spPr>
        <p:txBody>
          <a:bodyPr wrap="square">
            <a:spAutoFit/>
          </a:bodyPr>
          <a:lstStyle/>
          <a:p>
            <a:pPr algn="l"/>
            <a:r>
              <a:rPr sz="1100" b="1">
                <a:solidFill>
                  <a:srgbClr val="0B2545"/>
                </a:solidFill>
                <a:latin typeface="Calibri"/>
              </a:rPr>
              <a:t>api</a:t>
            </a:r>
          </a:p>
        </p:txBody>
      </p:sp>
      <p:sp>
        <p:nvSpPr>
          <p:cNvPr id="36" name="TextBox 35"/>
          <p:cNvSpPr txBox="1"/>
          <p:nvPr/>
        </p:nvSpPr>
        <p:spPr>
          <a:xfrm>
            <a:off x="2560320" y="4709160"/>
            <a:ext cx="2286000" cy="310896"/>
          </a:xfrm>
          <a:prstGeom prst="rect">
            <a:avLst/>
          </a:prstGeom>
          <a:noFill/>
        </p:spPr>
        <p:txBody>
          <a:bodyPr wrap="square">
            <a:spAutoFit/>
          </a:bodyPr>
          <a:lstStyle/>
          <a:p>
            <a:pPr algn="l"/>
            <a:r>
              <a:rPr sz="1000" b="0">
                <a:solidFill>
                  <a:srgbClr val="6B7A8B"/>
                </a:solidFill>
                <a:latin typeface="Calibri"/>
              </a:rPr>
              <a:t>built from repo</a:t>
            </a:r>
          </a:p>
        </p:txBody>
      </p:sp>
      <p:sp>
        <p:nvSpPr>
          <p:cNvPr id="37" name="TextBox 36"/>
          <p:cNvSpPr txBox="1"/>
          <p:nvPr/>
        </p:nvSpPr>
        <p:spPr>
          <a:xfrm>
            <a:off x="4846320" y="4709160"/>
            <a:ext cx="2377440" cy="310896"/>
          </a:xfrm>
          <a:prstGeom prst="rect">
            <a:avLst/>
          </a:prstGeom>
          <a:noFill/>
        </p:spPr>
        <p:txBody>
          <a:bodyPr wrap="square">
            <a:spAutoFit/>
          </a:bodyPr>
          <a:lstStyle/>
          <a:p>
            <a:pPr algn="l"/>
            <a:r>
              <a:rPr sz="1000" b="0">
                <a:solidFill>
                  <a:srgbClr val="334455"/>
                </a:solidFill>
                <a:latin typeface="Calibri"/>
              </a:rPr>
              <a:t>the agent, port 8000</a:t>
            </a:r>
          </a:p>
        </p:txBody>
      </p:sp>
      <p:sp>
        <p:nvSpPr>
          <p:cNvPr id="38" name="Rounded Rectangle 37"/>
          <p:cNvSpPr/>
          <p:nvPr/>
        </p:nvSpPr>
        <p:spPr>
          <a:xfrm>
            <a:off x="7589520" y="1691640"/>
            <a:ext cx="4069080" cy="1143000"/>
          </a:xfrm>
          <a:prstGeom prst="roundRect">
            <a:avLst/>
          </a:prstGeom>
          <a:solidFill>
            <a:srgbClr val="0B2545"/>
          </a:solidFill>
          <a:ln w="1270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cp .env.example .env</a:t>
            </a:r>
          </a:p>
          <a:p>
            <a:pPr algn="ctr"/>
            <a:r>
              <a:rPr sz="1300" b="1">
                <a:solidFill>
                  <a:srgbClr val="FFFFFF"/>
                </a:solidFill>
                <a:latin typeface="Calibri"/>
              </a:rPr>
              <a:t>docker compose up -d --build</a:t>
            </a:r>
          </a:p>
        </p:txBody>
      </p:sp>
      <p:sp>
        <p:nvSpPr>
          <p:cNvPr id="39" name="Rounded Rectangle 38"/>
          <p:cNvSpPr/>
          <p:nvPr/>
        </p:nvSpPr>
        <p:spPr>
          <a:xfrm>
            <a:off x="7589520" y="2971800"/>
            <a:ext cx="4069080" cy="210312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334455"/>
                </a:solidFill>
                <a:latin typeface="Calibri"/>
              </a:rPr>
              <a:t>Startup order is enforced with health conditions, not sleeps.</a:t>
            </a:r>
          </a:p>
          <a:p>
            <a:pPr algn="ctr"/>
          </a:p>
          <a:p>
            <a:pPr algn="ctr"/>
            <a:r>
              <a:rPr sz="1200" b="0">
                <a:solidFill>
                  <a:srgbClr val="334455"/>
                </a:solidFill>
                <a:latin typeface="Calibri"/>
              </a:rPr>
              <a:t>Postgres must accept connections before migrations run. Migrations must finish before the API starts. The models must be pulled before the first extraction is attempted.</a:t>
            </a:r>
          </a:p>
        </p:txBody>
      </p:sp>
      <p:sp>
        <p:nvSpPr>
          <p:cNvPr id="40" name="Rounded Rectangle 39"/>
          <p:cNvSpPr/>
          <p:nvPr/>
        </p:nvSpPr>
        <p:spPr>
          <a:xfrm>
            <a:off x="502920" y="5257800"/>
            <a:ext cx="11155680" cy="658368"/>
          </a:xfrm>
          <a:prstGeom prst="roundRect">
            <a:avLst/>
          </a:prstGeom>
          <a:solidFill>
            <a:srgbClr val="ECF6F5"/>
          </a:solidFill>
          <a:ln w="12700">
            <a:solidFill>
              <a:srgbClr val="00A1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0B2545"/>
                </a:solidFill>
                <a:latin typeface="Calibri"/>
              </a:rPr>
              <a:t>Swagger UI at :8000/docs   |   Mock ERP at :8081/docs   |   Phoenix at :6006   |   OpenAPI committed at docs/openapi.json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Design decisions</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The four that shaped everything else</a:t>
            </a:r>
          </a:p>
        </p:txBody>
      </p:sp>
      <p:sp>
        <p:nvSpPr>
          <p:cNvPr id="6" name="Rounded Rectangle 5"/>
          <p:cNvSpPr/>
          <p:nvPr/>
        </p:nvSpPr>
        <p:spPr>
          <a:xfrm>
            <a:off x="502920" y="1737360"/>
            <a:ext cx="5486400" cy="1920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7" name="TextBox 6"/>
          <p:cNvSpPr txBox="1"/>
          <p:nvPr/>
        </p:nvSpPr>
        <p:spPr>
          <a:xfrm>
            <a:off x="704088" y="1883664"/>
            <a:ext cx="5120640" cy="365760"/>
          </a:xfrm>
          <a:prstGeom prst="rect">
            <a:avLst/>
          </a:prstGeom>
          <a:noFill/>
        </p:spPr>
        <p:txBody>
          <a:bodyPr wrap="square">
            <a:spAutoFit/>
          </a:bodyPr>
          <a:lstStyle/>
          <a:p>
            <a:pPr algn="l"/>
            <a:r>
              <a:rPr sz="1500" b="1">
                <a:solidFill>
                  <a:srgbClr val="0B2545"/>
                </a:solidFill>
                <a:latin typeface="Calibri"/>
              </a:rPr>
              <a:t>The LLM extracts; code decides</a:t>
            </a:r>
          </a:p>
        </p:txBody>
      </p:sp>
      <p:sp>
        <p:nvSpPr>
          <p:cNvPr id="8" name="TextBox 7"/>
          <p:cNvSpPr txBox="1"/>
          <p:nvPr/>
        </p:nvSpPr>
        <p:spPr>
          <a:xfrm>
            <a:off x="704088" y="2322576"/>
            <a:ext cx="5120640" cy="1234440"/>
          </a:xfrm>
          <a:prstGeom prst="rect">
            <a:avLst/>
          </a:prstGeom>
          <a:noFill/>
        </p:spPr>
        <p:txBody>
          <a:bodyPr wrap="square">
            <a:spAutoFit/>
          </a:bodyPr>
          <a:lstStyle/>
          <a:p>
            <a:pPr algn="l"/>
            <a:r>
              <a:rPr sz="1100" b="0">
                <a:solidFill>
                  <a:srgbClr val="334455"/>
                </a:solidFill>
                <a:latin typeface="Calibri"/>
              </a:rPr>
              <a:t>Nothing about whether to pay money is left to a language model. The model turns a document into fields; Decimal arithmetic compares them to the PO. Every posting decision is reproducible, and tightening a tolerance is configuration, not prompting.</a:t>
            </a:r>
          </a:p>
        </p:txBody>
      </p:sp>
      <p:sp>
        <p:nvSpPr>
          <p:cNvPr id="9" name="Rounded Rectangle 8"/>
          <p:cNvSpPr/>
          <p:nvPr/>
        </p:nvSpPr>
        <p:spPr>
          <a:xfrm>
            <a:off x="6309359" y="1737360"/>
            <a:ext cx="5486400" cy="1920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0" name="TextBox 9"/>
          <p:cNvSpPr txBox="1"/>
          <p:nvPr/>
        </p:nvSpPr>
        <p:spPr>
          <a:xfrm>
            <a:off x="6510527" y="1883664"/>
            <a:ext cx="5120640" cy="365760"/>
          </a:xfrm>
          <a:prstGeom prst="rect">
            <a:avLst/>
          </a:prstGeom>
          <a:noFill/>
        </p:spPr>
        <p:txBody>
          <a:bodyPr wrap="square">
            <a:spAutoFit/>
          </a:bodyPr>
          <a:lstStyle/>
          <a:p>
            <a:pPr algn="l"/>
            <a:r>
              <a:rPr sz="1500" b="1">
                <a:solidFill>
                  <a:srgbClr val="0B2545"/>
                </a:solidFill>
                <a:latin typeface="Calibri"/>
              </a:rPr>
              <a:t>Human-in-the-loop by checkpointed interrupt</a:t>
            </a:r>
          </a:p>
        </p:txBody>
      </p:sp>
      <p:sp>
        <p:nvSpPr>
          <p:cNvPr id="11" name="TextBox 10"/>
          <p:cNvSpPr txBox="1"/>
          <p:nvPr/>
        </p:nvSpPr>
        <p:spPr>
          <a:xfrm>
            <a:off x="6510527" y="2322576"/>
            <a:ext cx="5120640" cy="1234440"/>
          </a:xfrm>
          <a:prstGeom prst="rect">
            <a:avLst/>
          </a:prstGeom>
          <a:noFill/>
        </p:spPr>
        <p:txBody>
          <a:bodyPr wrap="square">
            <a:spAutoFit/>
          </a:bodyPr>
          <a:lstStyle/>
          <a:p>
            <a:pPr algn="l"/>
            <a:r>
              <a:rPr sz="1100" b="0">
                <a:solidFill>
                  <a:srgbClr val="334455"/>
                </a:solidFill>
                <a:latin typeface="Calibri"/>
              </a:rPr>
              <a:t>The approval pause is a LangGraph interrupt over a Postgres checkpointer. Full run state persists, so the service can be redeployed while an invoice waits, and the resumed run continues from exactly that node.</a:t>
            </a:r>
          </a:p>
        </p:txBody>
      </p:sp>
      <p:sp>
        <p:nvSpPr>
          <p:cNvPr id="12" name="Rounded Rectangle 11"/>
          <p:cNvSpPr/>
          <p:nvPr/>
        </p:nvSpPr>
        <p:spPr>
          <a:xfrm>
            <a:off x="502920" y="3886200"/>
            <a:ext cx="5486400" cy="1920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3" name="TextBox 12"/>
          <p:cNvSpPr txBox="1"/>
          <p:nvPr/>
        </p:nvSpPr>
        <p:spPr>
          <a:xfrm>
            <a:off x="704088" y="4032504"/>
            <a:ext cx="5120640" cy="365760"/>
          </a:xfrm>
          <a:prstGeom prst="rect">
            <a:avLst/>
          </a:prstGeom>
          <a:noFill/>
        </p:spPr>
        <p:txBody>
          <a:bodyPr wrap="square">
            <a:spAutoFit/>
          </a:bodyPr>
          <a:lstStyle/>
          <a:p>
            <a:pPr algn="l"/>
            <a:r>
              <a:rPr sz="1500" b="1">
                <a:solidFill>
                  <a:srgbClr val="0B2545"/>
                </a:solidFill>
                <a:latin typeface="Calibri"/>
              </a:rPr>
              <a:t>Two vector indexes, not one</a:t>
            </a:r>
          </a:p>
        </p:txBody>
      </p:sp>
      <p:sp>
        <p:nvSpPr>
          <p:cNvPr id="14" name="TextBox 13"/>
          <p:cNvSpPr txBox="1"/>
          <p:nvPr/>
        </p:nvSpPr>
        <p:spPr>
          <a:xfrm>
            <a:off x="704088" y="4471416"/>
            <a:ext cx="5120640" cy="1234440"/>
          </a:xfrm>
          <a:prstGeom prst="rect">
            <a:avLst/>
          </a:prstGeom>
          <a:noFill/>
        </p:spPr>
        <p:txBody>
          <a:bodyPr wrap="square">
            <a:spAutoFit/>
          </a:bodyPr>
          <a:lstStyle/>
          <a:p>
            <a:pPr algn="l"/>
            <a:r>
              <a:rPr sz="1100" b="0">
                <a:solidFill>
                  <a:srgbClr val="334455"/>
                </a:solidFill>
                <a:latin typeface="Calibri"/>
              </a:rPr>
              <a:t>Vendor master and AP policy live in separate pgvector tables because they answer different questions. Blended into a single top-k, policy prose consistently outranks the vendor row the query actually needed.</a:t>
            </a:r>
          </a:p>
        </p:txBody>
      </p:sp>
      <p:sp>
        <p:nvSpPr>
          <p:cNvPr id="15" name="Rounded Rectangle 14"/>
          <p:cNvSpPr/>
          <p:nvPr/>
        </p:nvSpPr>
        <p:spPr>
          <a:xfrm>
            <a:off x="6309359" y="3886200"/>
            <a:ext cx="5486400" cy="1920240"/>
          </a:xfrm>
          <a:prstGeom prst="roundRect">
            <a:avLst/>
          </a:prstGeom>
          <a:solidFill>
            <a:srgbClr val="F4F6F9"/>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6" name="TextBox 15"/>
          <p:cNvSpPr txBox="1"/>
          <p:nvPr/>
        </p:nvSpPr>
        <p:spPr>
          <a:xfrm>
            <a:off x="6510527" y="4032504"/>
            <a:ext cx="5120640" cy="365760"/>
          </a:xfrm>
          <a:prstGeom prst="rect">
            <a:avLst/>
          </a:prstGeom>
          <a:noFill/>
        </p:spPr>
        <p:txBody>
          <a:bodyPr wrap="square">
            <a:spAutoFit/>
          </a:bodyPr>
          <a:lstStyle/>
          <a:p>
            <a:pPr algn="l"/>
            <a:r>
              <a:rPr sz="1500" b="1">
                <a:solidFill>
                  <a:srgbClr val="0B2545"/>
                </a:solidFill>
                <a:latin typeface="Calibri"/>
              </a:rPr>
              <a:t>Metrics derived, not asserted</a:t>
            </a:r>
          </a:p>
        </p:txBody>
      </p:sp>
      <p:sp>
        <p:nvSpPr>
          <p:cNvPr id="17" name="TextBox 16"/>
          <p:cNvSpPr txBox="1"/>
          <p:nvPr/>
        </p:nvSpPr>
        <p:spPr>
          <a:xfrm>
            <a:off x="6510527" y="4471416"/>
            <a:ext cx="5120640" cy="1234440"/>
          </a:xfrm>
          <a:prstGeom prst="rect">
            <a:avLst/>
          </a:prstGeom>
          <a:noFill/>
        </p:spPr>
        <p:txBody>
          <a:bodyPr wrap="square">
            <a:spAutoFit/>
          </a:bodyPr>
          <a:lstStyle/>
          <a:p>
            <a:pPr algn="l"/>
            <a:r>
              <a:rPr sz="1100" b="0">
                <a:solidFill>
                  <a:srgbClr val="334455"/>
                </a:solidFill>
                <a:latin typeface="Calibri"/>
              </a:rPr>
              <a:t>The straight-through rate is computed from run rows rather than counted into a separate tally, so the headline number cannot drift away from what the audit trail says actually happened.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0A1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155680" cy="548640"/>
          </a:xfrm>
          <a:prstGeom prst="rect">
            <a:avLst/>
          </a:prstGeom>
          <a:noFill/>
        </p:spPr>
        <p:txBody>
          <a:bodyPr wrap="square">
            <a:spAutoFit/>
          </a:bodyPr>
          <a:lstStyle/>
          <a:p>
            <a:pPr algn="l"/>
            <a:r>
              <a:rPr sz="3000" b="1">
                <a:solidFill>
                  <a:srgbClr val="0B2545"/>
                </a:solidFill>
                <a:latin typeface="Calibri"/>
              </a:rPr>
              <a:t>Limitations and what production needs</a:t>
            </a:r>
          </a:p>
        </p:txBody>
      </p:sp>
      <p:sp>
        <p:nvSpPr>
          <p:cNvPr id="5" name="TextBox 4"/>
          <p:cNvSpPr txBox="1"/>
          <p:nvPr/>
        </p:nvSpPr>
        <p:spPr>
          <a:xfrm>
            <a:off x="566928" y="969264"/>
            <a:ext cx="11155680" cy="365760"/>
          </a:xfrm>
          <a:prstGeom prst="rect">
            <a:avLst/>
          </a:prstGeom>
          <a:noFill/>
        </p:spPr>
        <p:txBody>
          <a:bodyPr wrap="square">
            <a:spAutoFit/>
          </a:bodyPr>
          <a:lstStyle/>
          <a:p>
            <a:pPr algn="l"/>
            <a:r>
              <a:rPr sz="1400" b="0">
                <a:solidFill>
                  <a:srgbClr val="6B7A8B"/>
                </a:solidFill>
                <a:latin typeface="Calibri"/>
              </a:rPr>
              <a:t>Stated plainly, because a prototype that hides its edges is worse than useless</a:t>
            </a:r>
          </a:p>
        </p:txBody>
      </p:sp>
      <p:sp>
        <p:nvSpPr>
          <p:cNvPr id="6" name="Rounded Rectangle 5"/>
          <p:cNvSpPr/>
          <p:nvPr/>
        </p:nvSpPr>
        <p:spPr>
          <a:xfrm>
            <a:off x="502920" y="1737360"/>
            <a:ext cx="5486400" cy="1554480"/>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7" name="TextBox 6"/>
          <p:cNvSpPr txBox="1"/>
          <p:nvPr/>
        </p:nvSpPr>
        <p:spPr>
          <a:xfrm>
            <a:off x="704088" y="1865376"/>
            <a:ext cx="5120640" cy="320040"/>
          </a:xfrm>
          <a:prstGeom prst="rect">
            <a:avLst/>
          </a:prstGeom>
          <a:noFill/>
        </p:spPr>
        <p:txBody>
          <a:bodyPr wrap="square">
            <a:spAutoFit/>
          </a:bodyPr>
          <a:lstStyle/>
          <a:p>
            <a:pPr algn="l"/>
            <a:r>
              <a:rPr sz="1400" b="1">
                <a:solidFill>
                  <a:srgbClr val="0B2545"/>
                </a:solidFill>
                <a:latin typeface="Calibri"/>
              </a:rPr>
              <a:t>The ERP is a mock</a:t>
            </a:r>
          </a:p>
        </p:txBody>
      </p:sp>
      <p:sp>
        <p:nvSpPr>
          <p:cNvPr id="8" name="TextBox 7"/>
          <p:cNvSpPr txBox="1"/>
          <p:nvPr/>
        </p:nvSpPr>
        <p:spPr>
          <a:xfrm>
            <a:off x="704088" y="2240280"/>
            <a:ext cx="5120640" cy="960120"/>
          </a:xfrm>
          <a:prstGeom prst="rect">
            <a:avLst/>
          </a:prstGeom>
          <a:noFill/>
        </p:spPr>
        <p:txBody>
          <a:bodyPr wrap="square">
            <a:spAutoFit/>
          </a:bodyPr>
          <a:lstStyle/>
          <a:p>
            <a:pPr algn="l"/>
            <a:r>
              <a:rPr sz="1100" b="0">
                <a:solidFill>
                  <a:srgbClr val="334455"/>
                </a:solidFill>
                <a:latin typeface="Calibri"/>
              </a:rPr>
              <a:t>mock_erp mirrors the S/4HANA OData shape and reseeds on startup for reproducible evaluation. A real integration swaps erp/client.py; nothing upstream changes.</a:t>
            </a:r>
          </a:p>
        </p:txBody>
      </p:sp>
      <p:sp>
        <p:nvSpPr>
          <p:cNvPr id="9" name="Rounded Rectangle 8"/>
          <p:cNvSpPr/>
          <p:nvPr/>
        </p:nvSpPr>
        <p:spPr>
          <a:xfrm>
            <a:off x="502920" y="3520439"/>
            <a:ext cx="5486400" cy="1554480"/>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0" name="TextBox 9"/>
          <p:cNvSpPr txBox="1"/>
          <p:nvPr/>
        </p:nvSpPr>
        <p:spPr>
          <a:xfrm>
            <a:off x="704088" y="3648456"/>
            <a:ext cx="5120640" cy="320040"/>
          </a:xfrm>
          <a:prstGeom prst="rect">
            <a:avLst/>
          </a:prstGeom>
          <a:noFill/>
        </p:spPr>
        <p:txBody>
          <a:bodyPr wrap="square">
            <a:spAutoFit/>
          </a:bodyPr>
          <a:lstStyle/>
          <a:p>
            <a:pPr algn="l"/>
            <a:r>
              <a:rPr sz="1400" b="1">
                <a:solidFill>
                  <a:srgbClr val="0B2545"/>
                </a:solidFill>
                <a:latin typeface="Calibri"/>
              </a:rPr>
              <a:t>Extraction tracks the local model</a:t>
            </a:r>
          </a:p>
        </p:txBody>
      </p:sp>
      <p:sp>
        <p:nvSpPr>
          <p:cNvPr id="11" name="TextBox 10"/>
          <p:cNvSpPr txBox="1"/>
          <p:nvPr/>
        </p:nvSpPr>
        <p:spPr>
          <a:xfrm>
            <a:off x="704088" y="4023359"/>
            <a:ext cx="5120640" cy="960120"/>
          </a:xfrm>
          <a:prstGeom prst="rect">
            <a:avLst/>
          </a:prstGeom>
          <a:noFill/>
        </p:spPr>
        <p:txBody>
          <a:bodyPr wrap="square">
            <a:spAutoFit/>
          </a:bodyPr>
          <a:lstStyle/>
          <a:p>
            <a:pPr algn="l"/>
            <a:r>
              <a:rPr sz="1100" b="0">
                <a:solidFill>
                  <a:srgbClr val="334455"/>
                </a:solidFill>
                <a:latin typeface="Calibri"/>
              </a:rPr>
              <a:t>llama3.1:8b keeps the whole stack on one machine with no external API calls - the right default for finance documents. A larger model measurably improves dense line-item extraction.</a:t>
            </a:r>
          </a:p>
        </p:txBody>
      </p:sp>
      <p:sp>
        <p:nvSpPr>
          <p:cNvPr id="12" name="Rounded Rectangle 11"/>
          <p:cNvSpPr/>
          <p:nvPr/>
        </p:nvSpPr>
        <p:spPr>
          <a:xfrm>
            <a:off x="6309359" y="1737360"/>
            <a:ext cx="5486400" cy="1554480"/>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3" name="TextBox 12"/>
          <p:cNvSpPr txBox="1"/>
          <p:nvPr/>
        </p:nvSpPr>
        <p:spPr>
          <a:xfrm>
            <a:off x="6510527" y="1865376"/>
            <a:ext cx="5120640" cy="320040"/>
          </a:xfrm>
          <a:prstGeom prst="rect">
            <a:avLst/>
          </a:prstGeom>
          <a:noFill/>
        </p:spPr>
        <p:txBody>
          <a:bodyPr wrap="square">
            <a:spAutoFit/>
          </a:bodyPr>
          <a:lstStyle/>
          <a:p>
            <a:pPr algn="l"/>
            <a:r>
              <a:rPr sz="1400" b="1">
                <a:solidFill>
                  <a:srgbClr val="0B2545"/>
                </a:solidFill>
                <a:latin typeface="Calibri"/>
              </a:rPr>
              <a:t>Polling is request-triggered</a:t>
            </a:r>
          </a:p>
        </p:txBody>
      </p:sp>
      <p:sp>
        <p:nvSpPr>
          <p:cNvPr id="14" name="TextBox 13"/>
          <p:cNvSpPr txBox="1"/>
          <p:nvPr/>
        </p:nvSpPr>
        <p:spPr>
          <a:xfrm>
            <a:off x="6510527" y="2240280"/>
            <a:ext cx="5120640" cy="960120"/>
          </a:xfrm>
          <a:prstGeom prst="rect">
            <a:avLst/>
          </a:prstGeom>
          <a:noFill/>
        </p:spPr>
        <p:txBody>
          <a:bodyPr wrap="square">
            <a:spAutoFit/>
          </a:bodyPr>
          <a:lstStyle/>
          <a:p>
            <a:pPr algn="l"/>
            <a:r>
              <a:rPr sz="1100" b="0">
                <a:solidFill>
                  <a:srgbClr val="334455"/>
                </a:solidFill>
                <a:latin typeface="Calibri"/>
              </a:rPr>
              <a:t>POST /mailbox/poll drives a poll. Production would run it on a scheduler, or move to Graph change notifications instead of interval polling.</a:t>
            </a:r>
          </a:p>
        </p:txBody>
      </p:sp>
      <p:sp>
        <p:nvSpPr>
          <p:cNvPr id="15" name="Rounded Rectangle 14"/>
          <p:cNvSpPr/>
          <p:nvPr/>
        </p:nvSpPr>
        <p:spPr>
          <a:xfrm>
            <a:off x="6309359" y="3520439"/>
            <a:ext cx="5486400" cy="1554480"/>
          </a:xfrm>
          <a:prstGeom prst="roundRect">
            <a:avLst/>
          </a:prstGeom>
          <a:solidFill>
            <a:srgbClr val="FFFFFF"/>
          </a:solidFill>
          <a:ln w="12700">
            <a:solidFill>
              <a:srgbClr val="D4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6" name="TextBox 15"/>
          <p:cNvSpPr txBox="1"/>
          <p:nvPr/>
        </p:nvSpPr>
        <p:spPr>
          <a:xfrm>
            <a:off x="6510527" y="3648456"/>
            <a:ext cx="5120640" cy="320040"/>
          </a:xfrm>
          <a:prstGeom prst="rect">
            <a:avLst/>
          </a:prstGeom>
          <a:noFill/>
        </p:spPr>
        <p:txBody>
          <a:bodyPr wrap="square">
            <a:spAutoFit/>
          </a:bodyPr>
          <a:lstStyle/>
          <a:p>
            <a:pPr algn="l"/>
            <a:r>
              <a:rPr sz="1400" b="1">
                <a:solidFill>
                  <a:srgbClr val="0B2545"/>
                </a:solidFill>
                <a:latin typeface="Calibri"/>
              </a:rPr>
              <a:t>No currency conversion</a:t>
            </a:r>
          </a:p>
        </p:txBody>
      </p:sp>
      <p:sp>
        <p:nvSpPr>
          <p:cNvPr id="17" name="TextBox 16"/>
          <p:cNvSpPr txBox="1"/>
          <p:nvPr/>
        </p:nvSpPr>
        <p:spPr>
          <a:xfrm>
            <a:off x="6510527" y="4023359"/>
            <a:ext cx="5120640" cy="960120"/>
          </a:xfrm>
          <a:prstGeom prst="rect">
            <a:avLst/>
          </a:prstGeom>
          <a:noFill/>
        </p:spPr>
        <p:txBody>
          <a:bodyPr wrap="square">
            <a:spAutoFit/>
          </a:bodyPr>
          <a:lstStyle/>
          <a:p>
            <a:pPr algn="l"/>
            <a:r>
              <a:rPr sz="1100" b="0">
                <a:solidFill>
                  <a:srgbClr val="334455"/>
                </a:solidFill>
                <a:latin typeface="Calibri"/>
              </a:rPr>
              <a:t>A currency mismatch between invoice and PO is detected and escalated rather than converted at a daily rate.</a:t>
            </a:r>
          </a:p>
        </p:txBody>
      </p:sp>
      <p:sp>
        <p:nvSpPr>
          <p:cNvPr id="18" name="Rounded Rectangle 17"/>
          <p:cNvSpPr/>
          <p:nvPr/>
        </p:nvSpPr>
        <p:spPr>
          <a:xfrm>
            <a:off x="502920" y="5230368"/>
            <a:ext cx="11155680" cy="749808"/>
          </a:xfrm>
          <a:prstGeom prst="roundRect">
            <a:avLst/>
          </a:prstGeom>
          <a:solidFill>
            <a:srgbClr val="0B2545"/>
          </a:solidFill>
          <a:ln w="1270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FFFFFF"/>
                </a:solidFill>
                <a:latin typeface="Calibri"/>
              </a:rPr>
              <a:t>Next: Graph change notifications instead of polling  |  vendor-specific extraction templates for high-volume suppliers  |  a learned tolerance recommendation from historical approver decisions  |  RAGAs scoring of the policy-retrieval path</a:t>
            </a:r>
          </a:p>
        </p:txBody>
      </p:sp>
      <p:sp>
        <p:nvSpPr>
          <p:cNvPr id="19" name="TextBox 18"/>
          <p:cNvSpPr txBox="1"/>
          <p:nvPr/>
        </p:nvSpPr>
        <p:spPr>
          <a:xfrm>
            <a:off x="548640" y="6108192"/>
            <a:ext cx="11064240" cy="320040"/>
          </a:xfrm>
          <a:prstGeom prst="rect">
            <a:avLst/>
          </a:prstGeom>
          <a:noFill/>
        </p:spPr>
        <p:txBody>
          <a:bodyPr wrap="square">
            <a:spAutoFit/>
          </a:bodyPr>
          <a:lstStyle/>
          <a:p>
            <a:pPr algn="ctr"/>
            <a:r>
              <a:rPr sz="1100" b="0">
                <a:solidFill>
                  <a:srgbClr val="6B7A8B"/>
                </a:solidFill>
                <a:latin typeface="Calibri"/>
              </a:rPr>
              <a:t>Ashutosh Sharma  |  Agentic Invoice-to-Payment Automation  |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